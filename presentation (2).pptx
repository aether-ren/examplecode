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70" r:id="rId5"/>
    <p:sldId id="272" r:id="rId6"/>
    <p:sldId id="268" r:id="rId7"/>
    <p:sldId id="273" r:id="rId8"/>
    <p:sldId id="274" r:id="rId9"/>
    <p:sldId id="265" r:id="rId10"/>
    <p:sldId id="271"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9999FF"/>
    <a:srgbClr val="ADAD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ED3C0-2FAB-BF20-6E06-EAED41C8B523}" v="2" dt="2026-02-04T14:04:07.62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8453" autoAdjust="0"/>
  </p:normalViewPr>
  <p:slideViewPr>
    <p:cSldViewPr snapToGrid="0">
      <p:cViewPr varScale="1">
        <p:scale>
          <a:sx n="102" d="100"/>
          <a:sy n="102" d="100"/>
        </p:scale>
        <p:origin x="348" y="72"/>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jin Ren (PGR)" userId="S::2633042r@student.gla.ac.uk::8b28b8da-1d8c-4208-b3ab-c8db52b25df5" providerId="AD" clId="Web-{30BED3C0-2FAB-BF20-6E06-EAED41C8B523}"/>
    <pc:docChg chg="modSld">
      <pc:chgData name="Hongjin Ren (PGR)" userId="S::2633042r@student.gla.ac.uk::8b28b8da-1d8c-4208-b3ab-c8db52b25df5" providerId="AD" clId="Web-{30BED3C0-2FAB-BF20-6E06-EAED41C8B523}" dt="2026-02-04T14:04:07.626" v="1" actId="1076"/>
      <pc:docMkLst>
        <pc:docMk/>
      </pc:docMkLst>
      <pc:sldChg chg="modSp">
        <pc:chgData name="Hongjin Ren (PGR)" userId="S::2633042r@student.gla.ac.uk::8b28b8da-1d8c-4208-b3ab-c8db52b25df5" providerId="AD" clId="Web-{30BED3C0-2FAB-BF20-6E06-EAED41C8B523}" dt="2026-02-04T14:04:07.626" v="1" actId="1076"/>
        <pc:sldMkLst>
          <pc:docMk/>
          <pc:sldMk cId="2234162319" sldId="270"/>
        </pc:sldMkLst>
        <pc:picChg chg="mod">
          <ac:chgData name="Hongjin Ren (PGR)" userId="S::2633042r@student.gla.ac.uk::8b28b8da-1d8c-4208-b3ab-c8db52b25df5" providerId="AD" clId="Web-{30BED3C0-2FAB-BF20-6E06-EAED41C8B523}" dt="2026-02-04T14:04:07.626" v="1" actId="1076"/>
          <ac:picMkLst>
            <pc:docMk/>
            <pc:sldMk cId="2234162319" sldId="270"/>
            <ac:picMk id="9" creationId="{586877FA-8A20-285F-966D-FA6EF037401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74535-607E-465A-B1C5-C425261BF993}" type="datetimeFigureOut">
              <a:rPr lang="zh-CN" altLang="en-US" smtClean="0"/>
              <a:t>2026/2/4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646B8D-B523-445E-92E6-B6D9DB20E688}" type="slidenum">
              <a:rPr lang="zh-CN" altLang="en-US" smtClean="0"/>
              <a:t>‹#›</a:t>
            </a:fld>
            <a:endParaRPr lang="zh-CN" altLang="en-US"/>
          </a:p>
        </p:txBody>
      </p:sp>
    </p:spTree>
    <p:extLst>
      <p:ext uri="{BB962C8B-B14F-4D97-AF65-F5344CB8AC3E}">
        <p14:creationId xmlns:p14="http://schemas.microsoft.com/office/powerpoint/2010/main" val="708779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1</a:t>
            </a:fld>
            <a:endParaRPr lang="zh-CN" altLang="en-US"/>
          </a:p>
        </p:txBody>
      </p:sp>
    </p:spTree>
    <p:extLst>
      <p:ext uri="{BB962C8B-B14F-4D97-AF65-F5344CB8AC3E}">
        <p14:creationId xmlns:p14="http://schemas.microsoft.com/office/powerpoint/2010/main" val="3776450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2</a:t>
            </a:fld>
            <a:endParaRPr lang="zh-CN" altLang="en-US"/>
          </a:p>
        </p:txBody>
      </p:sp>
    </p:spTree>
    <p:extLst>
      <p:ext uri="{BB962C8B-B14F-4D97-AF65-F5344CB8AC3E}">
        <p14:creationId xmlns:p14="http://schemas.microsoft.com/office/powerpoint/2010/main" val="3864439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Heart disease is one of the world's major health problems. Many mathematical models have been developed to relieve this problem. In recent years, we have already kwon that combined with MRI data LV models can help with the early diagnosis of heart failure. This model is described by some nonlinear functions, and we didn’t have a fixed solution for these equations.</a:t>
            </a:r>
          </a:p>
        </p:txBody>
      </p:sp>
      <p:sp>
        <p:nvSpPr>
          <p:cNvPr id="4" name="灯片编号占位符 3"/>
          <p:cNvSpPr>
            <a:spLocks noGrp="1"/>
          </p:cNvSpPr>
          <p:nvPr>
            <p:ph type="sldNum" sz="quarter" idx="5"/>
          </p:nvPr>
        </p:nvSpPr>
        <p:spPr/>
        <p:txBody>
          <a:bodyPr/>
          <a:lstStyle/>
          <a:p>
            <a:fld id="{64646B8D-B523-445E-92E6-B6D9DB20E688}" type="slidenum">
              <a:rPr lang="zh-CN" altLang="en-US" smtClean="0"/>
              <a:t>3</a:t>
            </a:fld>
            <a:endParaRPr lang="zh-CN" altLang="en-US"/>
          </a:p>
        </p:txBody>
      </p:sp>
    </p:spTree>
    <p:extLst>
      <p:ext uri="{BB962C8B-B14F-4D97-AF65-F5344CB8AC3E}">
        <p14:creationId xmlns:p14="http://schemas.microsoft.com/office/powerpoint/2010/main" val="1117340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4</a:t>
            </a:fld>
            <a:endParaRPr lang="zh-CN" altLang="en-US"/>
          </a:p>
        </p:txBody>
      </p:sp>
    </p:spTree>
    <p:extLst>
      <p:ext uri="{BB962C8B-B14F-4D97-AF65-F5344CB8AC3E}">
        <p14:creationId xmlns:p14="http://schemas.microsoft.com/office/powerpoint/2010/main" val="3770142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5</a:t>
            </a:fld>
            <a:endParaRPr lang="zh-CN" altLang="en-US"/>
          </a:p>
        </p:txBody>
      </p:sp>
    </p:spTree>
    <p:extLst>
      <p:ext uri="{BB962C8B-B14F-4D97-AF65-F5344CB8AC3E}">
        <p14:creationId xmlns:p14="http://schemas.microsoft.com/office/powerpoint/2010/main" val="3236453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6</a:t>
            </a:fld>
            <a:endParaRPr lang="zh-CN" altLang="en-US"/>
          </a:p>
        </p:txBody>
      </p:sp>
    </p:spTree>
    <p:extLst>
      <p:ext uri="{BB962C8B-B14F-4D97-AF65-F5344CB8AC3E}">
        <p14:creationId xmlns:p14="http://schemas.microsoft.com/office/powerpoint/2010/main" val="1069209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7</a:t>
            </a:fld>
            <a:endParaRPr lang="zh-CN" altLang="en-US"/>
          </a:p>
        </p:txBody>
      </p:sp>
    </p:spTree>
    <p:extLst>
      <p:ext uri="{BB962C8B-B14F-4D97-AF65-F5344CB8AC3E}">
        <p14:creationId xmlns:p14="http://schemas.microsoft.com/office/powerpoint/2010/main" val="1975030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8</a:t>
            </a:fld>
            <a:endParaRPr lang="zh-CN" altLang="en-US"/>
          </a:p>
        </p:txBody>
      </p:sp>
    </p:spTree>
    <p:extLst>
      <p:ext uri="{BB962C8B-B14F-4D97-AF65-F5344CB8AC3E}">
        <p14:creationId xmlns:p14="http://schemas.microsoft.com/office/powerpoint/2010/main" val="2331330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46B8D-B523-445E-92E6-B6D9DB20E688}" type="slidenum">
              <a:rPr lang="zh-CN" altLang="en-US" smtClean="0"/>
              <a:t>9</a:t>
            </a:fld>
            <a:endParaRPr lang="zh-CN" altLang="en-US"/>
          </a:p>
        </p:txBody>
      </p:sp>
    </p:spTree>
    <p:extLst>
      <p:ext uri="{BB962C8B-B14F-4D97-AF65-F5344CB8AC3E}">
        <p14:creationId xmlns:p14="http://schemas.microsoft.com/office/powerpoint/2010/main" val="185087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94D76FC4-8F92-A357-72F0-CF8FBB0FA356}"/>
              </a:ext>
            </a:extLst>
          </p:cNvPr>
          <p:cNvSpPr>
            <a:spLocks noGrp="1"/>
          </p:cNvSpPr>
          <p:nvPr>
            <p:ph type="sldNum" sz="quarter" idx="10"/>
          </p:nvPr>
        </p:nvSpPr>
        <p:spPr/>
        <p:txBody>
          <a:bodyPr/>
          <a:lstStyle/>
          <a:p>
            <a:fld id="{6CA44364-E889-4DF5-893C-D707612AF752}" type="slidenum">
              <a:rPr lang="zh-CN" altLang="en-US" smtClean="0"/>
              <a:pPr/>
              <a:t>‹#›</a:t>
            </a:fld>
            <a:r>
              <a:rPr lang="en-US" altLang="zh-CN" dirty="0"/>
              <a:t>/10</a:t>
            </a:r>
            <a:endParaRPr lang="zh-CN" altLang="en-US" dirty="0"/>
          </a:p>
        </p:txBody>
      </p:sp>
    </p:spTree>
    <p:extLst>
      <p:ext uri="{BB962C8B-B14F-4D97-AF65-F5344CB8AC3E}">
        <p14:creationId xmlns:p14="http://schemas.microsoft.com/office/powerpoint/2010/main" val="12340104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A12B0DC5-2004-7C35-4648-8FF836697B55}"/>
              </a:ext>
            </a:extLst>
          </p:cNvPr>
          <p:cNvGrpSpPr/>
          <p:nvPr userDrawn="1"/>
        </p:nvGrpSpPr>
        <p:grpSpPr>
          <a:xfrm>
            <a:off x="0" y="6612763"/>
            <a:ext cx="12192000" cy="261139"/>
            <a:chOff x="0" y="3346348"/>
            <a:chExt cx="4608017" cy="109855"/>
          </a:xfrm>
        </p:grpSpPr>
        <p:sp>
          <p:nvSpPr>
            <p:cNvPr id="8" name="object 31">
              <a:extLst>
                <a:ext uri="{FF2B5EF4-FFF2-40B4-BE49-F238E27FC236}">
                  <a16:creationId xmlns:a16="http://schemas.microsoft.com/office/drawing/2014/main" id="{796A392D-976E-23C9-F0F4-02431C9E8BC5}"/>
                </a:ext>
              </a:extLst>
            </p:cNvPr>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4747BA"/>
            </a:solidFill>
          </p:spPr>
          <p:txBody>
            <a:bodyPr wrap="square" lIns="0" tIns="0" rIns="0" bIns="0" rtlCol="0"/>
            <a:lstStyle/>
            <a:p>
              <a:endParaRPr/>
            </a:p>
          </p:txBody>
        </p:sp>
        <p:sp>
          <p:nvSpPr>
            <p:cNvPr id="9" name="object 32">
              <a:extLst>
                <a:ext uri="{FF2B5EF4-FFF2-40B4-BE49-F238E27FC236}">
                  <a16:creationId xmlns:a16="http://schemas.microsoft.com/office/drawing/2014/main" id="{E4EC194C-080A-1501-9C42-C53CFDE536A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8484D1"/>
            </a:solidFill>
          </p:spPr>
          <p:txBody>
            <a:bodyPr wrap="square" lIns="0" tIns="0" rIns="0" bIns="0" rtlCol="0"/>
            <a:lstStyle/>
            <a:p>
              <a:endParaRPr/>
            </a:p>
          </p:txBody>
        </p:sp>
        <p:sp>
          <p:nvSpPr>
            <p:cNvPr id="10" name="object 33">
              <a:extLst>
                <a:ext uri="{FF2B5EF4-FFF2-40B4-BE49-F238E27FC236}">
                  <a16:creationId xmlns:a16="http://schemas.microsoft.com/office/drawing/2014/main" id="{D7C3EE9B-2240-C16B-800D-1E1518D7AF35}"/>
                </a:ext>
              </a:extLst>
            </p:cNvPr>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ADADE0"/>
            </a:solidFill>
          </p:spPr>
          <p:txBody>
            <a:bodyPr wrap="square" lIns="0" tIns="0" rIns="0" bIns="0" rtlCol="0"/>
            <a:lstStyle/>
            <a:p>
              <a:endParaRPr/>
            </a:p>
          </p:txBody>
        </p:sp>
      </p:grpSp>
      <p:sp>
        <p:nvSpPr>
          <p:cNvPr id="15" name="文本框 14">
            <a:extLst>
              <a:ext uri="{FF2B5EF4-FFF2-40B4-BE49-F238E27FC236}">
                <a16:creationId xmlns:a16="http://schemas.microsoft.com/office/drawing/2014/main" id="{98A324F8-18C8-ADAA-C1BA-951068A2D7EC}"/>
              </a:ext>
            </a:extLst>
          </p:cNvPr>
          <p:cNvSpPr txBox="1"/>
          <p:nvPr userDrawn="1"/>
        </p:nvSpPr>
        <p:spPr>
          <a:xfrm>
            <a:off x="1101149" y="6581984"/>
            <a:ext cx="1324124" cy="307777"/>
          </a:xfrm>
          <a:prstGeom prst="rect">
            <a:avLst/>
          </a:prstGeom>
          <a:noFill/>
        </p:spPr>
        <p:txBody>
          <a:bodyPr wrap="square" rtlCol="0">
            <a:spAutoFit/>
          </a:bodyPr>
          <a:lstStyle/>
          <a:p>
            <a:r>
              <a:rPr lang="en-US" altLang="zh-CN" sz="1400" b="1" dirty="0" err="1">
                <a:solidFill>
                  <a:schemeClr val="bg1"/>
                </a:solidFill>
                <a:latin typeface="Calibri" panose="020F0502020204030204" pitchFamily="34" charset="0"/>
                <a:cs typeface="Calibri" panose="020F0502020204030204" pitchFamily="34" charset="0"/>
              </a:rPr>
              <a:t>Hongjin</a:t>
            </a:r>
            <a:r>
              <a:rPr lang="en-US" altLang="zh-CN" sz="1400" b="1" dirty="0">
                <a:solidFill>
                  <a:schemeClr val="bg1"/>
                </a:solidFill>
                <a:latin typeface="Calibri" panose="020F0502020204030204" pitchFamily="34" charset="0"/>
                <a:cs typeface="Calibri" panose="020F0502020204030204" pitchFamily="34" charset="0"/>
              </a:rPr>
              <a:t>   Ren</a:t>
            </a:r>
            <a:endParaRPr lang="zh-CN" altLang="en-US" sz="1400" b="1" dirty="0">
              <a:solidFill>
                <a:schemeClr val="bg1"/>
              </a:solidFill>
              <a:latin typeface="Calibri" panose="020F0502020204030204" pitchFamily="34" charset="0"/>
              <a:cs typeface="Calibri" panose="020F0502020204030204" pitchFamily="34" charset="0"/>
            </a:endParaRPr>
          </a:p>
        </p:txBody>
      </p:sp>
      <p:sp>
        <p:nvSpPr>
          <p:cNvPr id="16" name="灯片编号占位符 15">
            <a:extLst>
              <a:ext uri="{FF2B5EF4-FFF2-40B4-BE49-F238E27FC236}">
                <a16:creationId xmlns:a16="http://schemas.microsoft.com/office/drawing/2014/main" id="{4A7D1050-1719-94AF-C465-03E5EDF37CAC}"/>
              </a:ext>
            </a:extLst>
          </p:cNvPr>
          <p:cNvSpPr>
            <a:spLocks noGrp="1"/>
          </p:cNvSpPr>
          <p:nvPr>
            <p:ph type="sldNum" sz="quarter" idx="4"/>
          </p:nvPr>
        </p:nvSpPr>
        <p:spPr>
          <a:xfrm>
            <a:off x="9004144" y="6560769"/>
            <a:ext cx="3036632" cy="365125"/>
          </a:xfrm>
          <a:prstGeom prst="rect">
            <a:avLst/>
          </a:prstGeom>
        </p:spPr>
        <p:txBody>
          <a:bodyPr vert="horz" lIns="91440" tIns="45720" rIns="91440" bIns="45720" rtlCol="0" anchor="ctr"/>
          <a:lstStyle>
            <a:lvl1pPr algn="r">
              <a:defRPr sz="1400" b="1">
                <a:solidFill>
                  <a:schemeClr val="tx1"/>
                </a:solidFill>
                <a:latin typeface="Calibri" panose="020F0502020204030204" pitchFamily="34" charset="0"/>
                <a:cs typeface="Calibri" panose="020F0502020204030204" pitchFamily="34" charset="0"/>
              </a:defRPr>
            </a:lvl1pPr>
          </a:lstStyle>
          <a:p>
            <a:fld id="{6CA44364-E889-4DF5-893C-D707612AF752}" type="slidenum">
              <a:rPr lang="zh-CN" altLang="en-US" smtClean="0"/>
              <a:pPr/>
              <a:t>‹#›</a:t>
            </a:fld>
            <a:r>
              <a:rPr lang="en-US" altLang="zh-CN" dirty="0"/>
              <a:t>/10</a:t>
            </a:r>
            <a:endParaRPr lang="zh-CN" altLang="en-US" dirty="0"/>
          </a:p>
        </p:txBody>
      </p:sp>
      <p:grpSp>
        <p:nvGrpSpPr>
          <p:cNvPr id="17" name="组合 16">
            <a:extLst>
              <a:ext uri="{FF2B5EF4-FFF2-40B4-BE49-F238E27FC236}">
                <a16:creationId xmlns:a16="http://schemas.microsoft.com/office/drawing/2014/main" id="{43B9269A-55FF-5DDB-9AB0-BA4990E3602C}"/>
              </a:ext>
            </a:extLst>
          </p:cNvPr>
          <p:cNvGrpSpPr/>
          <p:nvPr userDrawn="1"/>
        </p:nvGrpSpPr>
        <p:grpSpPr>
          <a:xfrm>
            <a:off x="0" y="-32166"/>
            <a:ext cx="12192002" cy="307776"/>
            <a:chOff x="0" y="3346348"/>
            <a:chExt cx="4608018" cy="109855"/>
          </a:xfrm>
        </p:grpSpPr>
        <p:sp>
          <p:nvSpPr>
            <p:cNvPr id="18" name="object 31">
              <a:extLst>
                <a:ext uri="{FF2B5EF4-FFF2-40B4-BE49-F238E27FC236}">
                  <a16:creationId xmlns:a16="http://schemas.microsoft.com/office/drawing/2014/main" id="{C500DF95-2BE5-1B3F-96A6-B2AF1BC70D2A}"/>
                </a:ext>
              </a:extLst>
            </p:cNvPr>
            <p:cNvSpPr/>
            <p:nvPr/>
          </p:nvSpPr>
          <p:spPr>
            <a:xfrm>
              <a:off x="0" y="3346348"/>
              <a:ext cx="2304009"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4747BA"/>
            </a:solidFill>
          </p:spPr>
          <p:txBody>
            <a:bodyPr wrap="square" lIns="0" tIns="0" rIns="0" bIns="0" rtlCol="0"/>
            <a:lstStyle/>
            <a:p>
              <a:endParaRPr/>
            </a:p>
          </p:txBody>
        </p:sp>
        <p:sp>
          <p:nvSpPr>
            <p:cNvPr id="20" name="object 33">
              <a:extLst>
                <a:ext uri="{FF2B5EF4-FFF2-40B4-BE49-F238E27FC236}">
                  <a16:creationId xmlns:a16="http://schemas.microsoft.com/office/drawing/2014/main" id="{67BCD653-2F18-DA19-2927-22E377F6A63A}"/>
                </a:ext>
              </a:extLst>
            </p:cNvPr>
            <p:cNvSpPr/>
            <p:nvPr userDrawn="1"/>
          </p:nvSpPr>
          <p:spPr>
            <a:xfrm>
              <a:off x="2304009" y="3346348"/>
              <a:ext cx="2304009"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ADADE0"/>
            </a:solidFill>
          </p:spPr>
          <p:txBody>
            <a:bodyPr wrap="square" lIns="0" tIns="0" rIns="0" bIns="0" rtlCol="0"/>
            <a:lstStyle/>
            <a:p>
              <a:endParaRPr/>
            </a:p>
          </p:txBody>
        </p:sp>
      </p:grpSp>
      <p:sp>
        <p:nvSpPr>
          <p:cNvPr id="21" name="文本框 20">
            <a:extLst>
              <a:ext uri="{FF2B5EF4-FFF2-40B4-BE49-F238E27FC236}">
                <a16:creationId xmlns:a16="http://schemas.microsoft.com/office/drawing/2014/main" id="{14EC67AC-9761-57BF-1551-B86BECCE2BCB}"/>
              </a:ext>
            </a:extLst>
          </p:cNvPr>
          <p:cNvSpPr txBox="1"/>
          <p:nvPr userDrawn="1"/>
        </p:nvSpPr>
        <p:spPr>
          <a:xfrm>
            <a:off x="1763211" y="-32166"/>
            <a:ext cx="2120237" cy="307777"/>
          </a:xfrm>
          <a:prstGeom prst="rect">
            <a:avLst/>
          </a:prstGeom>
          <a:noFill/>
        </p:spPr>
        <p:txBody>
          <a:bodyPr wrap="square" rtlCol="0">
            <a:spAutoFit/>
          </a:bodyPr>
          <a:lstStyle/>
          <a:p>
            <a:r>
              <a:rPr lang="en-US" altLang="zh-CN" sz="1400" b="1" dirty="0">
                <a:solidFill>
                  <a:schemeClr val="bg1"/>
                </a:solidFill>
                <a:latin typeface="Calibri" panose="020F0502020204030204" pitchFamily="34" charset="0"/>
                <a:cs typeface="Calibri" panose="020F0502020204030204" pitchFamily="34" charset="0"/>
              </a:rPr>
              <a:t>University of Glasgow</a:t>
            </a:r>
            <a:endParaRPr lang="zh-CN" altLang="en-US" sz="1400" b="1" dirty="0">
              <a:solidFill>
                <a:schemeClr val="bg1"/>
              </a:solidFill>
              <a:latin typeface="Calibri" panose="020F0502020204030204" pitchFamily="34" charset="0"/>
              <a:cs typeface="Calibri" panose="020F0502020204030204" pitchFamily="34" charset="0"/>
            </a:endParaRPr>
          </a:p>
        </p:txBody>
      </p:sp>
      <p:sp>
        <p:nvSpPr>
          <p:cNvPr id="22" name="文本框 21">
            <a:extLst>
              <a:ext uri="{FF2B5EF4-FFF2-40B4-BE49-F238E27FC236}">
                <a16:creationId xmlns:a16="http://schemas.microsoft.com/office/drawing/2014/main" id="{F2E5ED62-7F7C-D6D0-01CA-D9BC05B265CA}"/>
              </a:ext>
            </a:extLst>
          </p:cNvPr>
          <p:cNvSpPr txBox="1"/>
          <p:nvPr userDrawn="1"/>
        </p:nvSpPr>
        <p:spPr>
          <a:xfrm>
            <a:off x="8347573" y="-30003"/>
            <a:ext cx="1608758" cy="307777"/>
          </a:xfrm>
          <a:prstGeom prst="rect">
            <a:avLst/>
          </a:prstGeom>
          <a:noFill/>
        </p:spPr>
        <p:txBody>
          <a:bodyPr wrap="square" rtlCol="0">
            <a:spAutoFit/>
          </a:bodyPr>
          <a:lstStyle/>
          <a:p>
            <a:r>
              <a:rPr lang="en-US" altLang="zh-CN" sz="1400" b="1" dirty="0">
                <a:solidFill>
                  <a:schemeClr val="tx1"/>
                </a:solidFill>
                <a:latin typeface="Calibri" panose="020F0502020204030204" pitchFamily="34" charset="0"/>
                <a:cs typeface="Calibri" panose="020F0502020204030204" pitchFamily="34" charset="0"/>
              </a:rPr>
              <a:t>PhD year one APR</a:t>
            </a:r>
            <a:endParaRPr lang="zh-CN" altLang="en-US" sz="14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6055973"/>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DA4EDF-EB85-96E8-98B2-F5001D31CF90}"/>
              </a:ext>
            </a:extLst>
          </p:cNvPr>
          <p:cNvSpPr>
            <a:spLocks noGrp="1"/>
          </p:cNvSpPr>
          <p:nvPr>
            <p:ph type="sldNum" sz="quarter" idx="10"/>
          </p:nvPr>
        </p:nvSpPr>
        <p:spPr/>
        <p:txBody>
          <a:bodyPr/>
          <a:lstStyle/>
          <a:p>
            <a:fld id="{6CA44364-E889-4DF5-893C-D707612AF752}" type="slidenum">
              <a:rPr lang="zh-CN" altLang="en-US" smtClean="0"/>
              <a:pPr/>
              <a:t>1</a:t>
            </a:fld>
            <a:r>
              <a:rPr lang="en-US" altLang="zh-CN" dirty="0"/>
              <a:t>/10</a:t>
            </a:r>
            <a:endParaRPr lang="zh-CN" altLang="en-US" dirty="0"/>
          </a:p>
        </p:txBody>
      </p:sp>
      <p:grpSp>
        <p:nvGrpSpPr>
          <p:cNvPr id="25" name="组合 24">
            <a:extLst>
              <a:ext uri="{FF2B5EF4-FFF2-40B4-BE49-F238E27FC236}">
                <a16:creationId xmlns:a16="http://schemas.microsoft.com/office/drawing/2014/main" id="{4B91F84F-D30B-2AFD-A386-FF7531FAD1C7}"/>
              </a:ext>
            </a:extLst>
          </p:cNvPr>
          <p:cNvGrpSpPr/>
          <p:nvPr/>
        </p:nvGrpSpPr>
        <p:grpSpPr>
          <a:xfrm>
            <a:off x="1554406" y="1037738"/>
            <a:ext cx="9083182" cy="1486041"/>
            <a:chOff x="1165037" y="988536"/>
            <a:chExt cx="10026345" cy="1827817"/>
          </a:xfrm>
        </p:grpSpPr>
        <p:sp>
          <p:nvSpPr>
            <p:cNvPr id="21" name="矩形: 圆角 20">
              <a:extLst>
                <a:ext uri="{FF2B5EF4-FFF2-40B4-BE49-F238E27FC236}">
                  <a16:creationId xmlns:a16="http://schemas.microsoft.com/office/drawing/2014/main" id="{585B62C0-9DEA-20A6-C485-B71B15118197}"/>
                </a:ext>
              </a:extLst>
            </p:cNvPr>
            <p:cNvSpPr/>
            <p:nvPr/>
          </p:nvSpPr>
          <p:spPr>
            <a:xfrm>
              <a:off x="1564103" y="988536"/>
              <a:ext cx="9063789" cy="1827817"/>
            </a:xfrm>
            <a:prstGeom prst="roundRect">
              <a:avLst/>
            </a:prstGeom>
            <a:solidFill>
              <a:srgbClr val="CCCCFF"/>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object 5">
              <a:extLst>
                <a:ext uri="{FF2B5EF4-FFF2-40B4-BE49-F238E27FC236}">
                  <a16:creationId xmlns:a16="http://schemas.microsoft.com/office/drawing/2014/main" id="{59B5D518-84AE-141B-774E-BB1EB97D0E3C}"/>
                </a:ext>
              </a:extLst>
            </p:cNvPr>
            <p:cNvSpPr txBox="1">
              <a:spLocks/>
            </p:cNvSpPr>
            <p:nvPr/>
          </p:nvSpPr>
          <p:spPr>
            <a:xfrm>
              <a:off x="1165037" y="1267090"/>
              <a:ext cx="10026345" cy="1270707"/>
            </a:xfrm>
            <a:prstGeom prst="rect">
              <a:avLst/>
            </a:prstGeom>
          </p:spPr>
          <p:txBody>
            <a:bodyPr vert="horz" wrap="square" lIns="0" tIns="254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indent="-635" algn="ctr">
                <a:lnSpc>
                  <a:spcPct val="106700"/>
                </a:lnSpc>
                <a:spcBef>
                  <a:spcPts val="20"/>
                </a:spcBef>
              </a:pPr>
              <a:r>
                <a:rPr lang="en-US" sz="3200" spc="15" dirty="0">
                  <a:latin typeface="Calibri" panose="020F0502020204030204" pitchFamily="34" charset="0"/>
                  <a:cs typeface="Calibri" panose="020F0502020204030204" pitchFamily="34" charset="0"/>
                </a:rPr>
                <a:t>Gaussian Process Emulation for Mathematical</a:t>
              </a:r>
            </a:p>
            <a:p>
              <a:pPr marL="12700" marR="5080" indent="-635" algn="ctr">
                <a:lnSpc>
                  <a:spcPct val="106700"/>
                </a:lnSpc>
                <a:spcBef>
                  <a:spcPts val="20"/>
                </a:spcBef>
              </a:pPr>
              <a:r>
                <a:rPr lang="en-US" sz="3200" spc="15" dirty="0">
                  <a:latin typeface="Calibri" panose="020F0502020204030204" pitchFamily="34" charset="0"/>
                  <a:cs typeface="Calibri" panose="020F0502020204030204" pitchFamily="34" charset="0"/>
                </a:rPr>
                <a:t>Models of the Heart</a:t>
              </a:r>
            </a:p>
          </p:txBody>
        </p:sp>
      </p:grpSp>
      <p:sp>
        <p:nvSpPr>
          <p:cNvPr id="8" name="文本框 7">
            <a:extLst>
              <a:ext uri="{FF2B5EF4-FFF2-40B4-BE49-F238E27FC236}">
                <a16:creationId xmlns:a16="http://schemas.microsoft.com/office/drawing/2014/main" id="{5BB380D9-328B-D4FE-8080-E7843D876D8F}"/>
              </a:ext>
            </a:extLst>
          </p:cNvPr>
          <p:cNvSpPr txBox="1"/>
          <p:nvPr/>
        </p:nvSpPr>
        <p:spPr>
          <a:xfrm>
            <a:off x="1734874" y="3213986"/>
            <a:ext cx="8722246" cy="1138773"/>
          </a:xfrm>
          <a:prstGeom prst="rect">
            <a:avLst/>
          </a:prstGeom>
          <a:noFill/>
        </p:spPr>
        <p:txBody>
          <a:bodyPr wrap="square" rtlCol="0">
            <a:spAutoFit/>
          </a:bodyPr>
          <a:lstStyle/>
          <a:p>
            <a:pPr algn="ctr"/>
            <a:r>
              <a:rPr lang="en-US" altLang="zh-CN" sz="2400" b="1" dirty="0" err="1"/>
              <a:t>Hongjin</a:t>
            </a:r>
            <a:r>
              <a:rPr lang="en-US" altLang="zh-CN" sz="2400" b="1" dirty="0"/>
              <a:t> Ren</a:t>
            </a:r>
          </a:p>
          <a:p>
            <a:pPr algn="ctr"/>
            <a:endParaRPr lang="en-US" altLang="zh-CN" sz="2400" b="1" dirty="0"/>
          </a:p>
          <a:p>
            <a:pPr algn="ctr"/>
            <a:r>
              <a:rPr lang="en-US" altLang="zh-CN" sz="2000" b="1" dirty="0"/>
              <a:t>Supervisors: Dr Benn Macdonald, Dr Vinny Davies, Dr Mu </a:t>
            </a:r>
            <a:r>
              <a:rPr lang="en-US" altLang="zh-CN" sz="2000" b="1" dirty="0" err="1"/>
              <a:t>Niu</a:t>
            </a:r>
            <a:r>
              <a:rPr lang="en-US" altLang="zh-CN" sz="2000" b="1" dirty="0"/>
              <a:t>, Dr Hao Gao</a:t>
            </a:r>
          </a:p>
        </p:txBody>
      </p:sp>
      <p:pic>
        <p:nvPicPr>
          <p:cNvPr id="24" name="图片 23">
            <a:extLst>
              <a:ext uri="{FF2B5EF4-FFF2-40B4-BE49-F238E27FC236}">
                <a16:creationId xmlns:a16="http://schemas.microsoft.com/office/drawing/2014/main" id="{261CA7CF-C117-3F7F-4987-D42D53C37377}"/>
              </a:ext>
            </a:extLst>
          </p:cNvPr>
          <p:cNvPicPr>
            <a:picLocks noChangeAspect="1"/>
          </p:cNvPicPr>
          <p:nvPr/>
        </p:nvPicPr>
        <p:blipFill>
          <a:blip r:embed="rId3"/>
          <a:stretch>
            <a:fillRect/>
          </a:stretch>
        </p:blipFill>
        <p:spPr>
          <a:xfrm>
            <a:off x="5643601" y="5042966"/>
            <a:ext cx="904795" cy="1387353"/>
          </a:xfrm>
          <a:prstGeom prst="rect">
            <a:avLst/>
          </a:prstGeom>
        </p:spPr>
      </p:pic>
    </p:spTree>
    <p:extLst>
      <p:ext uri="{BB962C8B-B14F-4D97-AF65-F5344CB8AC3E}">
        <p14:creationId xmlns:p14="http://schemas.microsoft.com/office/powerpoint/2010/main" val="3241057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2</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4" name="文本框 3">
            <a:extLst>
              <a:ext uri="{FF2B5EF4-FFF2-40B4-BE49-F238E27FC236}">
                <a16:creationId xmlns:a16="http://schemas.microsoft.com/office/drawing/2014/main" id="{F29860B4-94F2-F710-9F4A-B1D1BE61C296}"/>
              </a:ext>
            </a:extLst>
          </p:cNvPr>
          <p:cNvSpPr txBox="1"/>
          <p:nvPr/>
        </p:nvSpPr>
        <p:spPr>
          <a:xfrm>
            <a:off x="0" y="241846"/>
            <a:ext cx="1724527" cy="523220"/>
          </a:xfrm>
          <a:prstGeom prst="rect">
            <a:avLst/>
          </a:prstGeom>
          <a:noFill/>
        </p:spPr>
        <p:txBody>
          <a:bodyPr wrap="square" rtlCol="0">
            <a:spAutoFit/>
          </a:bodyPr>
          <a:lstStyle/>
          <a:p>
            <a:r>
              <a:rPr lang="en-US" altLang="zh-CN" sz="2800" b="1" dirty="0"/>
              <a:t>Outline</a:t>
            </a:r>
            <a:endParaRPr lang="zh-CN" altLang="en-US" sz="2800" b="1" dirty="0"/>
          </a:p>
        </p:txBody>
      </p:sp>
      <p:sp>
        <p:nvSpPr>
          <p:cNvPr id="5" name="文本框 4">
            <a:extLst>
              <a:ext uri="{FF2B5EF4-FFF2-40B4-BE49-F238E27FC236}">
                <a16:creationId xmlns:a16="http://schemas.microsoft.com/office/drawing/2014/main" id="{F5F19A91-9F7D-E618-05F8-1AB80AB65D6F}"/>
              </a:ext>
            </a:extLst>
          </p:cNvPr>
          <p:cNvSpPr txBox="1"/>
          <p:nvPr/>
        </p:nvSpPr>
        <p:spPr>
          <a:xfrm>
            <a:off x="605480" y="1050512"/>
            <a:ext cx="7202907" cy="4420890"/>
          </a:xfrm>
          <a:prstGeom prst="rect">
            <a:avLst/>
          </a:prstGeom>
          <a:noFill/>
        </p:spPr>
        <p:txBody>
          <a:bodyPr wrap="square" rtlCol="0">
            <a:spAutoFit/>
          </a:bodyPr>
          <a:lstStyle/>
          <a:p>
            <a:pPr marL="285750" indent="-285750">
              <a:lnSpc>
                <a:spcPct val="200000"/>
              </a:lnSpc>
              <a:buFontTx/>
              <a:buChar char="-"/>
            </a:pPr>
            <a:r>
              <a:rPr lang="en-US" altLang="zh-CN" sz="2400" b="1" dirty="0"/>
              <a:t>Introduction</a:t>
            </a:r>
            <a:endParaRPr lang="en-US" altLang="zh-CN" dirty="0"/>
          </a:p>
          <a:p>
            <a:pPr marL="285750" indent="-285750">
              <a:lnSpc>
                <a:spcPct val="200000"/>
              </a:lnSpc>
              <a:buFontTx/>
              <a:buChar char="-"/>
            </a:pPr>
            <a:r>
              <a:rPr lang="en-US" altLang="zh-CN" sz="2400" b="1" dirty="0"/>
              <a:t>Biomechanical model of left ventricular dynamics</a:t>
            </a:r>
            <a:endParaRPr lang="en-US" altLang="zh-CN" dirty="0"/>
          </a:p>
          <a:p>
            <a:pPr marL="285750" indent="-285750">
              <a:lnSpc>
                <a:spcPct val="200000"/>
              </a:lnSpc>
              <a:buFontTx/>
              <a:buChar char="-"/>
            </a:pPr>
            <a:r>
              <a:rPr lang="en-US" altLang="zh-CN" sz="2400" b="1" dirty="0"/>
              <a:t>Methodology</a:t>
            </a:r>
          </a:p>
          <a:p>
            <a:pPr marL="285750" indent="-285750">
              <a:lnSpc>
                <a:spcPct val="200000"/>
              </a:lnSpc>
              <a:buFontTx/>
              <a:buChar char="-"/>
            </a:pPr>
            <a:r>
              <a:rPr lang="en-US" altLang="zh-CN" sz="2400" b="1" dirty="0"/>
              <a:t>Emulators</a:t>
            </a:r>
          </a:p>
          <a:p>
            <a:pPr marL="285750" indent="-285750">
              <a:lnSpc>
                <a:spcPct val="200000"/>
              </a:lnSpc>
              <a:buFontTx/>
              <a:buChar char="-"/>
            </a:pPr>
            <a:r>
              <a:rPr lang="en-US" altLang="zh-CN" sz="2400" b="1" dirty="0"/>
              <a:t>Results</a:t>
            </a:r>
          </a:p>
          <a:p>
            <a:pPr marL="285750" indent="-285750">
              <a:lnSpc>
                <a:spcPct val="200000"/>
              </a:lnSpc>
              <a:buFontTx/>
              <a:buChar char="-"/>
            </a:pPr>
            <a:r>
              <a:rPr lang="en-US" altLang="zh-CN" sz="2400" b="1" dirty="0"/>
              <a:t>Future Work</a:t>
            </a:r>
            <a:endParaRPr lang="zh-CN" altLang="en-US" sz="2400" b="1" dirty="0"/>
          </a:p>
        </p:txBody>
      </p:sp>
    </p:spTree>
    <p:extLst>
      <p:ext uri="{BB962C8B-B14F-4D97-AF65-F5344CB8AC3E}">
        <p14:creationId xmlns:p14="http://schemas.microsoft.com/office/powerpoint/2010/main" val="404740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3</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4" name="文本框 3">
            <a:extLst>
              <a:ext uri="{FF2B5EF4-FFF2-40B4-BE49-F238E27FC236}">
                <a16:creationId xmlns:a16="http://schemas.microsoft.com/office/drawing/2014/main" id="{F29860B4-94F2-F710-9F4A-B1D1BE61C296}"/>
              </a:ext>
            </a:extLst>
          </p:cNvPr>
          <p:cNvSpPr txBox="1"/>
          <p:nvPr/>
        </p:nvSpPr>
        <p:spPr>
          <a:xfrm>
            <a:off x="0" y="241846"/>
            <a:ext cx="2959769" cy="523220"/>
          </a:xfrm>
          <a:prstGeom prst="rect">
            <a:avLst/>
          </a:prstGeom>
          <a:noFill/>
        </p:spPr>
        <p:txBody>
          <a:bodyPr wrap="square" rtlCol="0">
            <a:spAutoFit/>
          </a:bodyPr>
          <a:lstStyle/>
          <a:p>
            <a:r>
              <a:rPr lang="en-US" altLang="zh-CN" sz="2800" b="1" dirty="0"/>
              <a:t>Introduction</a:t>
            </a:r>
            <a:endParaRPr lang="zh-CN" altLang="en-US" sz="2800" b="1" dirty="0"/>
          </a:p>
        </p:txBody>
      </p:sp>
      <p:sp>
        <p:nvSpPr>
          <p:cNvPr id="6" name="文本框 5">
            <a:extLst>
              <a:ext uri="{FF2B5EF4-FFF2-40B4-BE49-F238E27FC236}">
                <a16:creationId xmlns:a16="http://schemas.microsoft.com/office/drawing/2014/main" id="{172903F9-453C-2176-CFC5-BE2984C21F2B}"/>
              </a:ext>
            </a:extLst>
          </p:cNvPr>
          <p:cNvSpPr txBox="1"/>
          <p:nvPr/>
        </p:nvSpPr>
        <p:spPr>
          <a:xfrm>
            <a:off x="0" y="918988"/>
            <a:ext cx="11486367" cy="3600986"/>
          </a:xfrm>
          <a:prstGeom prst="rect">
            <a:avLst/>
          </a:prstGeom>
          <a:noFill/>
        </p:spPr>
        <p:txBody>
          <a:bodyPr wrap="square" lIns="91440" tIns="45720" rIns="91440" bIns="45720" anchor="t">
            <a:spAutoFit/>
          </a:bodyPr>
          <a:lstStyle/>
          <a:p>
            <a:pPr lvl="1">
              <a:spcAft>
                <a:spcPts val="1200"/>
              </a:spcAft>
            </a:pPr>
            <a:r>
              <a:rPr lang="en-US" altLang="zh-CN" sz="2400" b="1" dirty="0"/>
              <a:t>Background:</a:t>
            </a:r>
          </a:p>
          <a:p>
            <a:pPr marL="742950" lvl="1" indent="-285750">
              <a:spcBef>
                <a:spcPts val="600"/>
              </a:spcBef>
              <a:spcAft>
                <a:spcPts val="1200"/>
              </a:spcAft>
              <a:buFont typeface="Wingdings" panose="05000000000000000000" pitchFamily="2" charset="2"/>
              <a:buChar char="Ø"/>
            </a:pPr>
            <a:r>
              <a:rPr lang="en-US" altLang="zh-CN" dirty="0">
                <a:ea typeface="宋体"/>
              </a:rPr>
              <a:t>Cardiovascular disease is a major global public health problem and mathematical model of cardiac function can give some supports for early diagnosis and treatment strategies.</a:t>
            </a:r>
            <a:endParaRPr lang="en-US" altLang="zh-CN" dirty="0">
              <a:ea typeface="宋体"/>
              <a:cs typeface="Calibri"/>
            </a:endParaRPr>
          </a:p>
          <a:p>
            <a:pPr marL="742950" lvl="1" indent="-285750">
              <a:spcBef>
                <a:spcPts val="600"/>
              </a:spcBef>
              <a:spcAft>
                <a:spcPts val="1200"/>
              </a:spcAft>
              <a:buFont typeface="Wingdings" panose="05000000000000000000" pitchFamily="2" charset="2"/>
              <a:buChar char="Ø"/>
            </a:pPr>
            <a:r>
              <a:rPr lang="en-US" altLang="zh-CN" dirty="0"/>
              <a:t>Combined with cardiac MRI data, left ventricular (LV) model can be used to predict and assess cardiac systolic dysfunction, which is a common cause of heart failure.</a:t>
            </a:r>
          </a:p>
          <a:p>
            <a:pPr marL="742950" lvl="1" indent="-285750">
              <a:spcBef>
                <a:spcPts val="600"/>
              </a:spcBef>
              <a:spcAft>
                <a:spcPts val="1200"/>
              </a:spcAft>
              <a:buFont typeface="Wingdings" panose="05000000000000000000" pitchFamily="2" charset="2"/>
              <a:buChar char="Ø"/>
            </a:pPr>
            <a:r>
              <a:rPr lang="en-US" altLang="zh-CN" dirty="0"/>
              <a:t>The construction of the LV model is based on the Holzapfel-Ogden constitutive law, and solving the model relies on the finite element method, which is a complex and time-consuming process.</a:t>
            </a:r>
          </a:p>
          <a:p>
            <a:pPr marL="742950" lvl="1" indent="-285750">
              <a:spcBef>
                <a:spcPts val="600"/>
              </a:spcBef>
              <a:spcAft>
                <a:spcPts val="1200"/>
              </a:spcAft>
              <a:buFont typeface="Wingdings" panose="05000000000000000000" pitchFamily="2" charset="2"/>
              <a:buChar char="Ø"/>
            </a:pPr>
            <a:r>
              <a:rPr lang="en-US" altLang="zh-CN" dirty="0"/>
              <a:t>The numerical integration of mathematical models can be avoided by using emulator, which also can improve real-time analysis for clinical applications.</a:t>
            </a:r>
          </a:p>
        </p:txBody>
      </p:sp>
      <p:sp>
        <p:nvSpPr>
          <p:cNvPr id="8" name="文本框 7">
            <a:extLst>
              <a:ext uri="{FF2B5EF4-FFF2-40B4-BE49-F238E27FC236}">
                <a16:creationId xmlns:a16="http://schemas.microsoft.com/office/drawing/2014/main" id="{D8C97249-FC67-1F10-CB33-A00BD2155E44}"/>
              </a:ext>
            </a:extLst>
          </p:cNvPr>
          <p:cNvSpPr txBox="1"/>
          <p:nvPr/>
        </p:nvSpPr>
        <p:spPr>
          <a:xfrm>
            <a:off x="0" y="4818436"/>
            <a:ext cx="11661730" cy="1246495"/>
          </a:xfrm>
          <a:prstGeom prst="rect">
            <a:avLst/>
          </a:prstGeom>
          <a:noFill/>
        </p:spPr>
        <p:txBody>
          <a:bodyPr wrap="square">
            <a:spAutoFit/>
          </a:bodyPr>
          <a:lstStyle/>
          <a:p>
            <a:pPr lvl="1">
              <a:spcAft>
                <a:spcPts val="1200"/>
              </a:spcAft>
            </a:pPr>
            <a:r>
              <a:rPr lang="en-GB" altLang="zh-CN" sz="2400" b="1" dirty="0"/>
              <a:t>Project objective:</a:t>
            </a:r>
          </a:p>
          <a:p>
            <a:pPr marL="742950" lvl="1" indent="-285750">
              <a:spcBef>
                <a:spcPts val="600"/>
              </a:spcBef>
              <a:spcAft>
                <a:spcPts val="1200"/>
              </a:spcAft>
              <a:buFont typeface="Wingdings" panose="05000000000000000000" pitchFamily="2" charset="2"/>
              <a:buChar char="Ø"/>
            </a:pPr>
            <a:r>
              <a:rPr lang="en-GB" altLang="zh-CN" dirty="0"/>
              <a:t>Design and optimisation of emulators in complex input and output spaces, using these emulators to improve the efficiency and accuracy of parameter inference.</a:t>
            </a:r>
          </a:p>
        </p:txBody>
      </p:sp>
    </p:spTree>
    <p:extLst>
      <p:ext uri="{BB962C8B-B14F-4D97-AF65-F5344CB8AC3E}">
        <p14:creationId xmlns:p14="http://schemas.microsoft.com/office/powerpoint/2010/main" val="683300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4</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4" name="文本框 3">
            <a:extLst>
              <a:ext uri="{FF2B5EF4-FFF2-40B4-BE49-F238E27FC236}">
                <a16:creationId xmlns:a16="http://schemas.microsoft.com/office/drawing/2014/main" id="{F29860B4-94F2-F710-9F4A-B1D1BE61C296}"/>
              </a:ext>
            </a:extLst>
          </p:cNvPr>
          <p:cNvSpPr txBox="1"/>
          <p:nvPr/>
        </p:nvSpPr>
        <p:spPr>
          <a:xfrm>
            <a:off x="0" y="246801"/>
            <a:ext cx="9901825" cy="523220"/>
          </a:xfrm>
          <a:prstGeom prst="rect">
            <a:avLst/>
          </a:prstGeom>
          <a:noFill/>
        </p:spPr>
        <p:txBody>
          <a:bodyPr wrap="square" rtlCol="0">
            <a:spAutoFit/>
          </a:bodyPr>
          <a:lstStyle/>
          <a:p>
            <a:r>
              <a:rPr lang="en-US" altLang="zh-CN" sz="2800" b="1" dirty="0"/>
              <a:t>Biomechanical model of left ventricular dynamics</a:t>
            </a:r>
            <a:endParaRPr lang="zh-CN" altLang="en-US" sz="2800" b="1" dirty="0"/>
          </a:p>
        </p:txBody>
      </p:sp>
      <p:sp>
        <p:nvSpPr>
          <p:cNvPr id="5" name="文本框 4">
            <a:extLst>
              <a:ext uri="{FF2B5EF4-FFF2-40B4-BE49-F238E27FC236}">
                <a16:creationId xmlns:a16="http://schemas.microsoft.com/office/drawing/2014/main" id="{97A2C5F1-8307-AF14-FF8A-807D0D3DCFAF}"/>
              </a:ext>
            </a:extLst>
          </p:cNvPr>
          <p:cNvSpPr txBox="1"/>
          <p:nvPr/>
        </p:nvSpPr>
        <p:spPr>
          <a:xfrm>
            <a:off x="0" y="1916190"/>
            <a:ext cx="4327744" cy="461665"/>
          </a:xfrm>
          <a:prstGeom prst="rect">
            <a:avLst/>
          </a:prstGeom>
          <a:noFill/>
        </p:spPr>
        <p:txBody>
          <a:bodyPr wrap="square" rtlCol="0">
            <a:spAutoFit/>
          </a:bodyPr>
          <a:lstStyle/>
          <a:p>
            <a:pPr marL="342900" indent="-342900">
              <a:buFont typeface="Wingdings" panose="05000000000000000000" pitchFamily="2" charset="2"/>
              <a:buChar char="Ø"/>
            </a:pPr>
            <a:r>
              <a:rPr lang="en-GB" altLang="zh-CN" sz="2400" b="1" dirty="0"/>
              <a:t>Left ventricular geometry</a:t>
            </a:r>
            <a:endParaRPr lang="zh-CN" altLang="en-US" sz="2400" b="1" dirty="0"/>
          </a:p>
        </p:txBody>
      </p:sp>
      <p:sp>
        <p:nvSpPr>
          <p:cNvPr id="7" name="文本框 6">
            <a:extLst>
              <a:ext uri="{FF2B5EF4-FFF2-40B4-BE49-F238E27FC236}">
                <a16:creationId xmlns:a16="http://schemas.microsoft.com/office/drawing/2014/main" id="{7CCF3F64-5F83-C04B-6020-E5FA7949BF5B}"/>
              </a:ext>
            </a:extLst>
          </p:cNvPr>
          <p:cNvSpPr txBox="1"/>
          <p:nvPr/>
        </p:nvSpPr>
        <p:spPr>
          <a:xfrm>
            <a:off x="0" y="1022878"/>
            <a:ext cx="11160690" cy="461665"/>
          </a:xfrm>
          <a:prstGeom prst="rect">
            <a:avLst/>
          </a:prstGeom>
          <a:noFill/>
        </p:spPr>
        <p:txBody>
          <a:bodyPr wrap="square">
            <a:spAutoFit/>
          </a:bodyPr>
          <a:lstStyle/>
          <a:p>
            <a:pPr lvl="1"/>
            <a:r>
              <a:rPr lang="en-US" altLang="zh-CN" sz="2400" dirty="0"/>
              <a:t>The left ventricle (LV) model describes the diastolic filling process of the heart.</a:t>
            </a:r>
            <a:endParaRPr lang="zh-CN" altLang="en-US" sz="2400" dirty="0"/>
          </a:p>
        </p:txBody>
      </p:sp>
      <p:pic>
        <p:nvPicPr>
          <p:cNvPr id="9" name="图片 8" descr="图片包含 图示">
            <a:extLst>
              <a:ext uri="{FF2B5EF4-FFF2-40B4-BE49-F238E27FC236}">
                <a16:creationId xmlns:a16="http://schemas.microsoft.com/office/drawing/2014/main" id="{586877FA-8A20-285F-966D-FA6EF0374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183" y="3169200"/>
            <a:ext cx="6209654" cy="2363637"/>
          </a:xfrm>
          <a:prstGeom prst="rect">
            <a:avLst/>
          </a:prstGeom>
        </p:spPr>
      </p:pic>
      <p:pic>
        <p:nvPicPr>
          <p:cNvPr id="20" name="图片 19">
            <a:extLst>
              <a:ext uri="{FF2B5EF4-FFF2-40B4-BE49-F238E27FC236}">
                <a16:creationId xmlns:a16="http://schemas.microsoft.com/office/drawing/2014/main" id="{625FDA7E-8AB9-B104-2651-2601BFBB3F20}"/>
              </a:ext>
            </a:extLst>
          </p:cNvPr>
          <p:cNvPicPr>
            <a:picLocks noChangeAspect="1"/>
          </p:cNvPicPr>
          <p:nvPr/>
        </p:nvPicPr>
        <p:blipFill>
          <a:blip r:embed="rId4"/>
          <a:stretch>
            <a:fillRect/>
          </a:stretch>
        </p:blipFill>
        <p:spPr>
          <a:xfrm>
            <a:off x="6855006" y="1659247"/>
            <a:ext cx="5085384" cy="4947034"/>
          </a:xfrm>
          <a:prstGeom prst="rect">
            <a:avLst/>
          </a:prstGeom>
        </p:spPr>
      </p:pic>
    </p:spTree>
    <p:extLst>
      <p:ext uri="{BB962C8B-B14F-4D97-AF65-F5344CB8AC3E}">
        <p14:creationId xmlns:p14="http://schemas.microsoft.com/office/powerpoint/2010/main" val="2234162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5</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4" name="文本框 3">
            <a:extLst>
              <a:ext uri="{FF2B5EF4-FFF2-40B4-BE49-F238E27FC236}">
                <a16:creationId xmlns:a16="http://schemas.microsoft.com/office/drawing/2014/main" id="{F29860B4-94F2-F710-9F4A-B1D1BE61C296}"/>
              </a:ext>
            </a:extLst>
          </p:cNvPr>
          <p:cNvSpPr txBox="1"/>
          <p:nvPr/>
        </p:nvSpPr>
        <p:spPr>
          <a:xfrm>
            <a:off x="0" y="246801"/>
            <a:ext cx="9901825" cy="523220"/>
          </a:xfrm>
          <a:prstGeom prst="rect">
            <a:avLst/>
          </a:prstGeom>
          <a:noFill/>
        </p:spPr>
        <p:txBody>
          <a:bodyPr wrap="square" rtlCol="0">
            <a:spAutoFit/>
          </a:bodyPr>
          <a:lstStyle/>
          <a:p>
            <a:r>
              <a:rPr lang="en-US" altLang="zh-CN" sz="2800" b="1" dirty="0"/>
              <a:t>Biomechanical model of left ventricular dynamics</a:t>
            </a:r>
            <a:endParaRPr lang="zh-CN" altLang="en-US" sz="2800" b="1" dirty="0"/>
          </a:p>
        </p:txBody>
      </p:sp>
      <p:sp>
        <p:nvSpPr>
          <p:cNvPr id="7" name="文本框 6">
            <a:extLst>
              <a:ext uri="{FF2B5EF4-FFF2-40B4-BE49-F238E27FC236}">
                <a16:creationId xmlns:a16="http://schemas.microsoft.com/office/drawing/2014/main" id="{7CCF3F64-5F83-C04B-6020-E5FA7949BF5B}"/>
              </a:ext>
            </a:extLst>
          </p:cNvPr>
          <p:cNvSpPr txBox="1"/>
          <p:nvPr/>
        </p:nvSpPr>
        <p:spPr>
          <a:xfrm>
            <a:off x="0" y="996388"/>
            <a:ext cx="11160690" cy="461665"/>
          </a:xfrm>
          <a:prstGeom prst="rect">
            <a:avLst/>
          </a:prstGeom>
          <a:noFill/>
        </p:spPr>
        <p:txBody>
          <a:bodyPr wrap="square">
            <a:spAutoFit/>
          </a:bodyPr>
          <a:lstStyle/>
          <a:p>
            <a:pPr lvl="1"/>
            <a:r>
              <a:rPr lang="en-US" altLang="zh-CN" sz="2400" dirty="0"/>
              <a:t>The </a:t>
            </a:r>
            <a:r>
              <a:rPr lang="pt-BR" altLang="zh-CN" sz="2400" dirty="0"/>
              <a:t>Holzapfel–Ogden(H–O) constitutive law is</a:t>
            </a:r>
            <a:r>
              <a:rPr lang="en-US" altLang="zh-CN" sz="2400" dirty="0"/>
              <a:t> the main part of the left LV model.</a:t>
            </a:r>
            <a:endParaRPr lang="zh-CN" altLang="en-US" sz="2400" dirty="0"/>
          </a:p>
        </p:txBody>
      </p:sp>
      <p:sp>
        <p:nvSpPr>
          <p:cNvPr id="10" name="文本框 9">
            <a:extLst>
              <a:ext uri="{FF2B5EF4-FFF2-40B4-BE49-F238E27FC236}">
                <a16:creationId xmlns:a16="http://schemas.microsoft.com/office/drawing/2014/main" id="{DB80424C-6E99-3166-CAAA-AABE8EBE41D3}"/>
              </a:ext>
            </a:extLst>
          </p:cNvPr>
          <p:cNvSpPr txBox="1"/>
          <p:nvPr/>
        </p:nvSpPr>
        <p:spPr>
          <a:xfrm>
            <a:off x="0" y="1650977"/>
            <a:ext cx="5684729" cy="461665"/>
          </a:xfrm>
          <a:prstGeom prst="rect">
            <a:avLst/>
          </a:prstGeom>
          <a:noFill/>
        </p:spPr>
        <p:txBody>
          <a:bodyPr wrap="square" rtlCol="0">
            <a:spAutoFit/>
          </a:bodyPr>
          <a:lstStyle/>
          <a:p>
            <a:pPr marL="342900" indent="-342900">
              <a:buFont typeface="Wingdings" panose="05000000000000000000" pitchFamily="2" charset="2"/>
              <a:buChar char="Ø"/>
            </a:pPr>
            <a:r>
              <a:rPr lang="pt-BR" altLang="zh-CN" sz="2400" b="1" dirty="0"/>
              <a:t>Holzapfel–Ogden(H–O) constitutive law</a:t>
            </a:r>
            <a:endParaRPr lang="zh-CN" altLang="en-US" sz="2400" b="1" dirty="0"/>
          </a:p>
        </p:txBody>
      </p:sp>
      <p:pic>
        <p:nvPicPr>
          <p:cNvPr id="12" name="图片 11">
            <a:extLst>
              <a:ext uri="{FF2B5EF4-FFF2-40B4-BE49-F238E27FC236}">
                <a16:creationId xmlns:a16="http://schemas.microsoft.com/office/drawing/2014/main" id="{0728D403-2FC8-3067-F80E-A49FD3F2F6A4}"/>
              </a:ext>
            </a:extLst>
          </p:cNvPr>
          <p:cNvPicPr>
            <a:picLocks noChangeAspect="1"/>
          </p:cNvPicPr>
          <p:nvPr/>
        </p:nvPicPr>
        <p:blipFill>
          <a:blip r:embed="rId3"/>
          <a:stretch>
            <a:fillRect/>
          </a:stretch>
        </p:blipFill>
        <p:spPr>
          <a:xfrm>
            <a:off x="2737980" y="2237904"/>
            <a:ext cx="5684729" cy="800741"/>
          </a:xfrm>
          <a:prstGeom prst="rect">
            <a:avLst/>
          </a:prstGeom>
        </p:spPr>
      </p:pic>
      <p:sp>
        <p:nvSpPr>
          <p:cNvPr id="13" name="文本框 12">
            <a:extLst>
              <a:ext uri="{FF2B5EF4-FFF2-40B4-BE49-F238E27FC236}">
                <a16:creationId xmlns:a16="http://schemas.microsoft.com/office/drawing/2014/main" id="{A0C78B77-C565-17C4-5800-E2F18FA66F24}"/>
              </a:ext>
            </a:extLst>
          </p:cNvPr>
          <p:cNvSpPr txBox="1"/>
          <p:nvPr/>
        </p:nvSpPr>
        <p:spPr>
          <a:xfrm>
            <a:off x="0" y="3226538"/>
            <a:ext cx="4866362" cy="461665"/>
          </a:xfrm>
          <a:prstGeom prst="rect">
            <a:avLst/>
          </a:prstGeom>
          <a:noFill/>
        </p:spPr>
        <p:txBody>
          <a:bodyPr wrap="square" rtlCol="0">
            <a:spAutoFit/>
          </a:bodyPr>
          <a:lstStyle/>
          <a:p>
            <a:pPr marL="342900" indent="-342900">
              <a:buFont typeface="Wingdings" panose="05000000000000000000" pitchFamily="2" charset="2"/>
              <a:buChar char="Ø"/>
            </a:pPr>
            <a:r>
              <a:rPr lang="pt-BR" altLang="zh-CN" sz="2400" b="1" dirty="0"/>
              <a:t>Bio-mechanical Parameters</a:t>
            </a:r>
            <a:endParaRPr lang="zh-CN" altLang="en-US" sz="2400" b="1" dirty="0"/>
          </a:p>
        </p:txBody>
      </p:sp>
      <p:pic>
        <p:nvPicPr>
          <p:cNvPr id="8" name="图片 7">
            <a:extLst>
              <a:ext uri="{FF2B5EF4-FFF2-40B4-BE49-F238E27FC236}">
                <a16:creationId xmlns:a16="http://schemas.microsoft.com/office/drawing/2014/main" id="{0F4C1378-46E7-97B7-2C78-6239CF9F2803}"/>
              </a:ext>
            </a:extLst>
          </p:cNvPr>
          <p:cNvPicPr>
            <a:picLocks noChangeAspect="1"/>
          </p:cNvPicPr>
          <p:nvPr/>
        </p:nvPicPr>
        <p:blipFill>
          <a:blip r:embed="rId4"/>
          <a:stretch>
            <a:fillRect/>
          </a:stretch>
        </p:blipFill>
        <p:spPr>
          <a:xfrm>
            <a:off x="1259494" y="4387404"/>
            <a:ext cx="3238666" cy="1886047"/>
          </a:xfrm>
          <a:prstGeom prst="rect">
            <a:avLst/>
          </a:prstGeom>
        </p:spPr>
      </p:pic>
      <p:pic>
        <p:nvPicPr>
          <p:cNvPr id="14" name="图片 13">
            <a:extLst>
              <a:ext uri="{FF2B5EF4-FFF2-40B4-BE49-F238E27FC236}">
                <a16:creationId xmlns:a16="http://schemas.microsoft.com/office/drawing/2014/main" id="{FAE09659-16A1-E3AA-977D-7577D9D9F46D}"/>
              </a:ext>
            </a:extLst>
          </p:cNvPr>
          <p:cNvPicPr>
            <a:picLocks noChangeAspect="1"/>
          </p:cNvPicPr>
          <p:nvPr/>
        </p:nvPicPr>
        <p:blipFill>
          <a:blip r:embed="rId5"/>
          <a:stretch>
            <a:fillRect/>
          </a:stretch>
        </p:blipFill>
        <p:spPr>
          <a:xfrm>
            <a:off x="6620634" y="4736671"/>
            <a:ext cx="4311872" cy="1187511"/>
          </a:xfrm>
          <a:prstGeom prst="rect">
            <a:avLst/>
          </a:prstGeom>
        </p:spPr>
      </p:pic>
      <p:sp>
        <p:nvSpPr>
          <p:cNvPr id="15" name="文本框 14">
            <a:extLst>
              <a:ext uri="{FF2B5EF4-FFF2-40B4-BE49-F238E27FC236}">
                <a16:creationId xmlns:a16="http://schemas.microsoft.com/office/drawing/2014/main" id="{927A8CC5-004E-4A84-153B-54868BD33C61}"/>
              </a:ext>
            </a:extLst>
          </p:cNvPr>
          <p:cNvSpPr txBox="1"/>
          <p:nvPr/>
        </p:nvSpPr>
        <p:spPr>
          <a:xfrm flipH="1">
            <a:off x="544882" y="3822155"/>
            <a:ext cx="640392" cy="369332"/>
          </a:xfrm>
          <a:prstGeom prst="rect">
            <a:avLst/>
          </a:prstGeom>
          <a:noFill/>
        </p:spPr>
        <p:txBody>
          <a:bodyPr wrap="square" rtlCol="0">
            <a:spAutoFit/>
          </a:bodyPr>
          <a:lstStyle/>
          <a:p>
            <a:r>
              <a:rPr lang="en-US" altLang="zh-CN" b="1" dirty="0">
                <a:latin typeface="Arial Nova" panose="020F0502020204030204" pitchFamily="34" charset="0"/>
              </a:rPr>
              <a:t>Ⅰ.</a:t>
            </a:r>
            <a:endParaRPr lang="zh-CN" altLang="en-US" b="1" dirty="0"/>
          </a:p>
        </p:txBody>
      </p:sp>
      <p:sp>
        <p:nvSpPr>
          <p:cNvPr id="17" name="文本框 16">
            <a:extLst>
              <a:ext uri="{FF2B5EF4-FFF2-40B4-BE49-F238E27FC236}">
                <a16:creationId xmlns:a16="http://schemas.microsoft.com/office/drawing/2014/main" id="{065693F9-2EE9-87AC-B07C-72D44638A5EA}"/>
              </a:ext>
            </a:extLst>
          </p:cNvPr>
          <p:cNvSpPr txBox="1"/>
          <p:nvPr/>
        </p:nvSpPr>
        <p:spPr>
          <a:xfrm>
            <a:off x="5980241" y="3822155"/>
            <a:ext cx="640393" cy="369332"/>
          </a:xfrm>
          <a:prstGeom prst="rect">
            <a:avLst/>
          </a:prstGeom>
          <a:noFill/>
        </p:spPr>
        <p:txBody>
          <a:bodyPr wrap="square">
            <a:spAutoFit/>
          </a:bodyPr>
          <a:lstStyle/>
          <a:p>
            <a:r>
              <a:rPr lang="en-US" altLang="zh-CN" b="1" dirty="0">
                <a:latin typeface="Arial Nova" panose="020B0504020202020204" pitchFamily="34" charset="0"/>
              </a:rPr>
              <a:t>Ⅱ.</a:t>
            </a:r>
            <a:endParaRPr lang="zh-CN" altLang="en-US" b="1" dirty="0"/>
          </a:p>
        </p:txBody>
      </p:sp>
    </p:spTree>
    <p:extLst>
      <p:ext uri="{BB962C8B-B14F-4D97-AF65-F5344CB8AC3E}">
        <p14:creationId xmlns:p14="http://schemas.microsoft.com/office/powerpoint/2010/main" val="220223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6</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10" name="文本框 9">
            <a:extLst>
              <a:ext uri="{FF2B5EF4-FFF2-40B4-BE49-F238E27FC236}">
                <a16:creationId xmlns:a16="http://schemas.microsoft.com/office/drawing/2014/main" id="{4F2B2AA0-BDD2-304F-10B7-8A0268A78871}"/>
              </a:ext>
            </a:extLst>
          </p:cNvPr>
          <p:cNvSpPr txBox="1"/>
          <p:nvPr/>
        </p:nvSpPr>
        <p:spPr>
          <a:xfrm>
            <a:off x="0" y="246801"/>
            <a:ext cx="5879432" cy="523220"/>
          </a:xfrm>
          <a:prstGeom prst="rect">
            <a:avLst/>
          </a:prstGeom>
          <a:noFill/>
        </p:spPr>
        <p:txBody>
          <a:bodyPr wrap="square" rtlCol="0">
            <a:spAutoFit/>
          </a:bodyPr>
          <a:lstStyle/>
          <a:p>
            <a:r>
              <a:rPr lang="en-US" altLang="zh-CN" sz="2800" b="1" dirty="0"/>
              <a:t>Methodology</a:t>
            </a:r>
          </a:p>
        </p:txBody>
      </p:sp>
      <p:pic>
        <p:nvPicPr>
          <p:cNvPr id="5" name="图片 4" descr="图示&#10;&#10;已自动生成说明">
            <a:extLst>
              <a:ext uri="{FF2B5EF4-FFF2-40B4-BE49-F238E27FC236}">
                <a16:creationId xmlns:a16="http://schemas.microsoft.com/office/drawing/2014/main" id="{FA49D02A-8283-99BB-647C-2389A6FF33EB}"/>
              </a:ext>
            </a:extLst>
          </p:cNvPr>
          <p:cNvPicPr>
            <a:picLocks noChangeAspect="1"/>
          </p:cNvPicPr>
          <p:nvPr/>
        </p:nvPicPr>
        <p:blipFill>
          <a:blip r:embed="rId3"/>
          <a:stretch>
            <a:fillRect/>
          </a:stretch>
        </p:blipFill>
        <p:spPr>
          <a:xfrm>
            <a:off x="0" y="995489"/>
            <a:ext cx="6674805" cy="5191842"/>
          </a:xfrm>
          <a:prstGeom prst="rect">
            <a:avLst/>
          </a:prstGeom>
        </p:spPr>
      </p:pic>
      <p:sp>
        <p:nvSpPr>
          <p:cNvPr id="13" name="文本框 12">
            <a:extLst>
              <a:ext uri="{FF2B5EF4-FFF2-40B4-BE49-F238E27FC236}">
                <a16:creationId xmlns:a16="http://schemas.microsoft.com/office/drawing/2014/main" id="{FDBDA40A-4418-1B5C-06B2-C32016838FAB}"/>
              </a:ext>
            </a:extLst>
          </p:cNvPr>
          <p:cNvSpPr txBox="1"/>
          <p:nvPr/>
        </p:nvSpPr>
        <p:spPr>
          <a:xfrm>
            <a:off x="6602914" y="771413"/>
            <a:ext cx="5589086" cy="5450851"/>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b="1" dirty="0"/>
              <a:t>Simulator</a:t>
            </a:r>
            <a:r>
              <a:rPr lang="en-US" altLang="zh-CN" dirty="0"/>
              <a:t> is solved numerically by finite element </a:t>
            </a:r>
            <a:r>
              <a:rPr lang="en-GB" altLang="zh-CN" dirty="0"/>
              <a:t>discretisation</a:t>
            </a:r>
            <a:r>
              <a:rPr lang="en-US" altLang="zh-CN" dirty="0"/>
              <a:t>, which typically takes about </a:t>
            </a:r>
            <a:r>
              <a:rPr lang="en-US" altLang="zh-CN" b="1" dirty="0"/>
              <a:t>20 minutes</a:t>
            </a:r>
            <a:r>
              <a:rPr lang="en-US" altLang="zh-CN" dirty="0"/>
              <a:t> per solution.</a:t>
            </a:r>
          </a:p>
          <a:p>
            <a:pPr marL="285750" indent="-285750">
              <a:lnSpc>
                <a:spcPct val="150000"/>
              </a:lnSpc>
              <a:buFont typeface="Wingdings" panose="05000000000000000000" pitchFamily="2" charset="2"/>
              <a:buChar char="Ø"/>
            </a:pPr>
            <a:endParaRPr lang="en-US" altLang="zh-CN" dirty="0"/>
          </a:p>
          <a:p>
            <a:pPr marL="285750" indent="-285750">
              <a:lnSpc>
                <a:spcPct val="150000"/>
              </a:lnSpc>
              <a:buFont typeface="Wingdings" panose="05000000000000000000" pitchFamily="2" charset="2"/>
              <a:buChar char="Ø"/>
            </a:pPr>
            <a:r>
              <a:rPr lang="en-US" altLang="zh-CN" b="1" dirty="0"/>
              <a:t>Emulator</a:t>
            </a:r>
            <a:r>
              <a:rPr lang="en-US" altLang="zh-CN" dirty="0"/>
              <a:t> is an approach that circumvents the highly computational task of direct numerical simulation. This approach significantly reduces the computational effort compared to direct simulation.</a:t>
            </a:r>
          </a:p>
          <a:p>
            <a:pPr marL="285750" indent="-285750">
              <a:lnSpc>
                <a:spcPct val="150000"/>
              </a:lnSpc>
              <a:buFont typeface="Wingdings" panose="05000000000000000000" pitchFamily="2" charset="2"/>
              <a:buChar char="Ø"/>
            </a:pPr>
            <a:endParaRPr lang="en-US" altLang="zh-CN" dirty="0"/>
          </a:p>
          <a:p>
            <a:pPr marL="285750" indent="-285750">
              <a:lnSpc>
                <a:spcPct val="150000"/>
              </a:lnSpc>
              <a:buFont typeface="Wingdings" panose="05000000000000000000" pitchFamily="2" charset="2"/>
              <a:buChar char="Ø"/>
            </a:pPr>
            <a:r>
              <a:rPr lang="en-US" altLang="zh-CN" b="1" dirty="0"/>
              <a:t>Parameter estimation </a:t>
            </a:r>
            <a:r>
              <a:rPr lang="en-US" altLang="zh-CN" dirty="0"/>
              <a:t>is performed using a </a:t>
            </a:r>
            <a:r>
              <a:rPr lang="en-US" altLang="zh-CN"/>
              <a:t>trained emulator</a:t>
            </a:r>
            <a:r>
              <a:rPr lang="en-US" altLang="zh-CN" dirty="0"/>
              <a:t>. The goal is to find optimal parameters that </a:t>
            </a:r>
            <a:r>
              <a:rPr lang="en-US" altLang="zh-CN" dirty="0" err="1"/>
              <a:t>minimise</a:t>
            </a:r>
            <a:r>
              <a:rPr lang="en-US" altLang="zh-CN" dirty="0"/>
              <a:t> the loss between the emulator predictions and the actual patient observation data.</a:t>
            </a:r>
            <a:endParaRPr lang="zh-CN" altLang="en-US" dirty="0"/>
          </a:p>
        </p:txBody>
      </p:sp>
    </p:spTree>
    <p:extLst>
      <p:ext uri="{BB962C8B-B14F-4D97-AF65-F5344CB8AC3E}">
        <p14:creationId xmlns:p14="http://schemas.microsoft.com/office/powerpoint/2010/main" val="2429951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7</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10" name="文本框 9">
            <a:extLst>
              <a:ext uri="{FF2B5EF4-FFF2-40B4-BE49-F238E27FC236}">
                <a16:creationId xmlns:a16="http://schemas.microsoft.com/office/drawing/2014/main" id="{4F2B2AA0-BDD2-304F-10B7-8A0268A78871}"/>
              </a:ext>
            </a:extLst>
          </p:cNvPr>
          <p:cNvSpPr txBox="1"/>
          <p:nvPr/>
        </p:nvSpPr>
        <p:spPr>
          <a:xfrm>
            <a:off x="0" y="246801"/>
            <a:ext cx="5879432" cy="523220"/>
          </a:xfrm>
          <a:prstGeom prst="rect">
            <a:avLst/>
          </a:prstGeom>
          <a:noFill/>
        </p:spPr>
        <p:txBody>
          <a:bodyPr wrap="square" rtlCol="0">
            <a:spAutoFit/>
          </a:bodyPr>
          <a:lstStyle/>
          <a:p>
            <a:r>
              <a:rPr lang="en-US" altLang="zh-CN" sz="2800" b="1" dirty="0"/>
              <a:t>Emulators</a:t>
            </a:r>
          </a:p>
        </p:txBody>
      </p:sp>
      <p:sp>
        <p:nvSpPr>
          <p:cNvPr id="5" name="文本框 4">
            <a:extLst>
              <a:ext uri="{FF2B5EF4-FFF2-40B4-BE49-F238E27FC236}">
                <a16:creationId xmlns:a16="http://schemas.microsoft.com/office/drawing/2014/main" id="{6A2B3761-9AE1-9D0B-5AA5-39D1A0411B89}"/>
              </a:ext>
            </a:extLst>
          </p:cNvPr>
          <p:cNvSpPr txBox="1"/>
          <p:nvPr/>
        </p:nvSpPr>
        <p:spPr>
          <a:xfrm>
            <a:off x="0" y="857703"/>
            <a:ext cx="3458749" cy="461665"/>
          </a:xfrm>
          <a:prstGeom prst="rect">
            <a:avLst/>
          </a:prstGeom>
          <a:noFill/>
        </p:spPr>
        <p:txBody>
          <a:bodyPr wrap="square">
            <a:spAutoFit/>
          </a:bodyPr>
          <a:lstStyle/>
          <a:p>
            <a:pPr marL="342900" indent="-342900">
              <a:buFont typeface="Wingdings" panose="05000000000000000000" pitchFamily="2" charset="2"/>
              <a:buChar char="Ø"/>
            </a:pPr>
            <a:r>
              <a:rPr lang="en-GB" altLang="zh-CN" sz="2400" b="1" dirty="0"/>
              <a:t>Gaussian Processes</a:t>
            </a:r>
            <a:endParaRPr lang="zh-CN" altLang="en-US" sz="2400" b="1" dirty="0"/>
          </a:p>
        </p:txBody>
      </p:sp>
      <p:sp>
        <p:nvSpPr>
          <p:cNvPr id="6" name="文本框 5">
            <a:extLst>
              <a:ext uri="{FF2B5EF4-FFF2-40B4-BE49-F238E27FC236}">
                <a16:creationId xmlns:a16="http://schemas.microsoft.com/office/drawing/2014/main" id="{FFFC7D6D-394D-9D9A-8595-72E0153FE21D}"/>
              </a:ext>
            </a:extLst>
          </p:cNvPr>
          <p:cNvSpPr txBox="1"/>
          <p:nvPr/>
        </p:nvSpPr>
        <p:spPr>
          <a:xfrm>
            <a:off x="574630" y="1294756"/>
            <a:ext cx="11149731" cy="880369"/>
          </a:xfrm>
          <a:prstGeom prst="rect">
            <a:avLst/>
          </a:prstGeom>
          <a:noFill/>
        </p:spPr>
        <p:txBody>
          <a:bodyPr wrap="square">
            <a:spAutoFit/>
          </a:bodyPr>
          <a:lstStyle/>
          <a:p>
            <a:pPr>
              <a:lnSpc>
                <a:spcPct val="150000"/>
              </a:lnSpc>
            </a:pPr>
            <a:r>
              <a:rPr lang="en-US" altLang="zh-CN" dirty="0"/>
              <a:t>Gaussian process (GP) regression is a powerful nonparametric Bayesian regression technique. </a:t>
            </a:r>
          </a:p>
          <a:p>
            <a:pPr>
              <a:lnSpc>
                <a:spcPct val="150000"/>
              </a:lnSpc>
            </a:pPr>
            <a:r>
              <a:rPr lang="en-US" altLang="zh-CN" dirty="0"/>
              <a:t>GP is fully represented by its mean and covariance functions. </a:t>
            </a:r>
            <a:endParaRPr lang="zh-CN" altLang="en-US" dirty="0"/>
          </a:p>
        </p:txBody>
      </p:sp>
      <p:pic>
        <p:nvPicPr>
          <p:cNvPr id="8" name="图片 7">
            <a:extLst>
              <a:ext uri="{FF2B5EF4-FFF2-40B4-BE49-F238E27FC236}">
                <a16:creationId xmlns:a16="http://schemas.microsoft.com/office/drawing/2014/main" id="{35828552-B1DD-11E9-29E2-A61D7FCBE43A}"/>
              </a:ext>
            </a:extLst>
          </p:cNvPr>
          <p:cNvPicPr>
            <a:picLocks noChangeAspect="1"/>
          </p:cNvPicPr>
          <p:nvPr/>
        </p:nvPicPr>
        <p:blipFill>
          <a:blip r:embed="rId3"/>
          <a:stretch>
            <a:fillRect/>
          </a:stretch>
        </p:blipFill>
        <p:spPr>
          <a:xfrm>
            <a:off x="4078191" y="2285112"/>
            <a:ext cx="2895749" cy="501676"/>
          </a:xfrm>
          <a:prstGeom prst="rect">
            <a:avLst/>
          </a:prstGeom>
        </p:spPr>
      </p:pic>
      <p:sp>
        <p:nvSpPr>
          <p:cNvPr id="9" name="文本框 8">
            <a:extLst>
              <a:ext uri="{FF2B5EF4-FFF2-40B4-BE49-F238E27FC236}">
                <a16:creationId xmlns:a16="http://schemas.microsoft.com/office/drawing/2014/main" id="{2C163837-F10B-5DDF-22B5-F41A1D711802}"/>
              </a:ext>
            </a:extLst>
          </p:cNvPr>
          <p:cNvSpPr txBox="1"/>
          <p:nvPr/>
        </p:nvSpPr>
        <p:spPr>
          <a:xfrm>
            <a:off x="0" y="2885493"/>
            <a:ext cx="3458749" cy="461665"/>
          </a:xfrm>
          <a:prstGeom prst="rect">
            <a:avLst/>
          </a:prstGeom>
          <a:noFill/>
        </p:spPr>
        <p:txBody>
          <a:bodyPr wrap="square">
            <a:spAutoFit/>
          </a:bodyPr>
          <a:lstStyle/>
          <a:p>
            <a:pPr marL="342900" indent="-342900">
              <a:buFont typeface="Wingdings" panose="05000000000000000000" pitchFamily="2" charset="2"/>
              <a:buChar char="Ø"/>
            </a:pPr>
            <a:r>
              <a:rPr lang="en-GB" altLang="zh-CN" sz="2400" b="1" dirty="0"/>
              <a:t>Emulators</a:t>
            </a:r>
            <a:endParaRPr lang="zh-CN" altLang="en-US" sz="2400" b="1" dirty="0"/>
          </a:p>
        </p:txBody>
      </p:sp>
      <p:sp>
        <p:nvSpPr>
          <p:cNvPr id="14" name="文本框 13">
            <a:extLst>
              <a:ext uri="{FF2B5EF4-FFF2-40B4-BE49-F238E27FC236}">
                <a16:creationId xmlns:a16="http://schemas.microsoft.com/office/drawing/2014/main" id="{0DA7070D-3DBD-84F4-DF76-DE637C018EAD}"/>
              </a:ext>
            </a:extLst>
          </p:cNvPr>
          <p:cNvSpPr txBox="1"/>
          <p:nvPr/>
        </p:nvSpPr>
        <p:spPr>
          <a:xfrm>
            <a:off x="674841" y="3544349"/>
            <a:ext cx="2055834" cy="369332"/>
          </a:xfrm>
          <a:prstGeom prst="rect">
            <a:avLst/>
          </a:prstGeom>
          <a:noFill/>
        </p:spPr>
        <p:txBody>
          <a:bodyPr wrap="square">
            <a:spAutoFit/>
          </a:bodyPr>
          <a:lstStyle/>
          <a:p>
            <a:pPr marL="285750" indent="-285750">
              <a:buFont typeface="Wingdings" panose="05000000000000000000" pitchFamily="2" charset="2"/>
              <a:buChar char="Ø"/>
            </a:pPr>
            <a:r>
              <a:rPr lang="en-GB" altLang="zh-CN" b="1" dirty="0"/>
              <a:t>Local Models</a:t>
            </a:r>
            <a:endParaRPr lang="zh-CN" altLang="en-US" b="1" dirty="0"/>
          </a:p>
        </p:txBody>
      </p:sp>
      <p:sp>
        <p:nvSpPr>
          <p:cNvPr id="16" name="文本框 15">
            <a:extLst>
              <a:ext uri="{FF2B5EF4-FFF2-40B4-BE49-F238E27FC236}">
                <a16:creationId xmlns:a16="http://schemas.microsoft.com/office/drawing/2014/main" id="{8300B36B-B14A-832C-24C2-E1D37C93F6D3}"/>
              </a:ext>
            </a:extLst>
          </p:cNvPr>
          <p:cNvSpPr txBox="1"/>
          <p:nvPr/>
        </p:nvSpPr>
        <p:spPr>
          <a:xfrm>
            <a:off x="6574469" y="3550095"/>
            <a:ext cx="2005730" cy="369332"/>
          </a:xfrm>
          <a:prstGeom prst="rect">
            <a:avLst/>
          </a:prstGeom>
          <a:noFill/>
        </p:spPr>
        <p:txBody>
          <a:bodyPr wrap="square">
            <a:spAutoFit/>
          </a:bodyPr>
          <a:lstStyle/>
          <a:p>
            <a:pPr marL="285750" indent="-285750">
              <a:buFont typeface="Wingdings" panose="05000000000000000000" pitchFamily="2" charset="2"/>
              <a:buChar char="Ø"/>
            </a:pPr>
            <a:r>
              <a:rPr lang="en-GB" altLang="zh-CN" b="1" dirty="0"/>
              <a:t>Global Models</a:t>
            </a:r>
            <a:endParaRPr lang="zh-CN" altLang="en-US" b="1" dirty="0"/>
          </a:p>
        </p:txBody>
      </p:sp>
      <p:sp>
        <p:nvSpPr>
          <p:cNvPr id="18" name="文本框 17">
            <a:extLst>
              <a:ext uri="{FF2B5EF4-FFF2-40B4-BE49-F238E27FC236}">
                <a16:creationId xmlns:a16="http://schemas.microsoft.com/office/drawing/2014/main" id="{A070FD72-9431-245B-E2F7-82E2F913C018}"/>
              </a:ext>
            </a:extLst>
          </p:cNvPr>
          <p:cNvSpPr txBox="1"/>
          <p:nvPr/>
        </p:nvSpPr>
        <p:spPr>
          <a:xfrm>
            <a:off x="1045533" y="3911251"/>
            <a:ext cx="3569135" cy="2057615"/>
          </a:xfrm>
          <a:prstGeom prst="rect">
            <a:avLst/>
          </a:prstGeom>
          <a:noFill/>
        </p:spPr>
        <p:txBody>
          <a:bodyPr wrap="square">
            <a:spAutoFit/>
          </a:bodyPr>
          <a:lstStyle/>
          <a:p>
            <a:pPr marL="285750" indent="-285750">
              <a:lnSpc>
                <a:spcPct val="250000"/>
              </a:lnSpc>
              <a:buFont typeface="Arial" panose="020B0604020202020204" pitchFamily="34" charset="0"/>
              <a:buChar char="•"/>
            </a:pPr>
            <a:r>
              <a:rPr lang="en-GB" altLang="zh-CN" dirty="0"/>
              <a:t>Standard GP </a:t>
            </a:r>
            <a:r>
              <a:rPr lang="en-US" altLang="zh-CN" dirty="0"/>
              <a:t>with single-output</a:t>
            </a:r>
          </a:p>
          <a:p>
            <a:pPr marL="285750" indent="-285750">
              <a:lnSpc>
                <a:spcPct val="250000"/>
              </a:lnSpc>
              <a:buFont typeface="Arial" panose="020B0604020202020204" pitchFamily="34" charset="0"/>
              <a:buChar char="•"/>
            </a:pPr>
            <a:r>
              <a:rPr lang="en-GB" altLang="zh-CN" dirty="0"/>
              <a:t>Standard GP </a:t>
            </a:r>
            <a:r>
              <a:rPr lang="en-US" altLang="zh-CN" dirty="0"/>
              <a:t>with multi-output</a:t>
            </a:r>
            <a:endParaRPr lang="zh-CN" altLang="en-US" dirty="0"/>
          </a:p>
          <a:p>
            <a:pPr marL="285750" indent="-285750">
              <a:lnSpc>
                <a:spcPct val="250000"/>
              </a:lnSpc>
              <a:buFont typeface="Arial" panose="020B0604020202020204" pitchFamily="34" charset="0"/>
              <a:buChar char="•"/>
            </a:pPr>
            <a:r>
              <a:rPr lang="en-GB" altLang="zh-CN" dirty="0"/>
              <a:t>GP with Deep Kernel Learning</a:t>
            </a:r>
            <a:endParaRPr lang="zh-CN" altLang="en-US" dirty="0"/>
          </a:p>
        </p:txBody>
      </p:sp>
      <p:sp>
        <p:nvSpPr>
          <p:cNvPr id="23" name="文本框 22">
            <a:extLst>
              <a:ext uri="{FF2B5EF4-FFF2-40B4-BE49-F238E27FC236}">
                <a16:creationId xmlns:a16="http://schemas.microsoft.com/office/drawing/2014/main" id="{B8EF86A9-FF0E-CB19-48F6-CC8F73768D52}"/>
              </a:ext>
            </a:extLst>
          </p:cNvPr>
          <p:cNvSpPr txBox="1"/>
          <p:nvPr/>
        </p:nvSpPr>
        <p:spPr>
          <a:xfrm>
            <a:off x="6887076" y="3911251"/>
            <a:ext cx="2857276" cy="2057615"/>
          </a:xfrm>
          <a:prstGeom prst="rect">
            <a:avLst/>
          </a:prstGeom>
          <a:noFill/>
        </p:spPr>
        <p:txBody>
          <a:bodyPr wrap="square">
            <a:spAutoFit/>
          </a:bodyPr>
          <a:lstStyle/>
          <a:p>
            <a:pPr marL="285750" indent="-285750">
              <a:lnSpc>
                <a:spcPct val="250000"/>
              </a:lnSpc>
              <a:buFont typeface="Arial" panose="020B0604020202020204" pitchFamily="34" charset="0"/>
              <a:buChar char="•"/>
            </a:pPr>
            <a:r>
              <a:rPr lang="en-GB" altLang="zh-CN" dirty="0"/>
              <a:t>Variational GP</a:t>
            </a:r>
          </a:p>
          <a:p>
            <a:pPr marL="285750" indent="-285750">
              <a:lnSpc>
                <a:spcPct val="250000"/>
              </a:lnSpc>
              <a:buFont typeface="Arial" panose="020B0604020202020204" pitchFamily="34" charset="0"/>
              <a:buChar char="•"/>
            </a:pPr>
            <a:r>
              <a:rPr lang="en-GB" altLang="zh-CN" dirty="0"/>
              <a:t>Deep GP</a:t>
            </a:r>
          </a:p>
          <a:p>
            <a:pPr marL="285750" indent="-285750">
              <a:lnSpc>
                <a:spcPct val="250000"/>
              </a:lnSpc>
              <a:buFont typeface="Arial" panose="020B0604020202020204" pitchFamily="34" charset="0"/>
              <a:buChar char="•"/>
            </a:pPr>
            <a:r>
              <a:rPr lang="en-GB" altLang="zh-CN" dirty="0"/>
              <a:t>Neural Network</a:t>
            </a:r>
            <a:endParaRPr lang="zh-CN" altLang="en-US" dirty="0"/>
          </a:p>
        </p:txBody>
      </p:sp>
    </p:spTree>
    <p:extLst>
      <p:ext uri="{BB962C8B-B14F-4D97-AF65-F5344CB8AC3E}">
        <p14:creationId xmlns:p14="http://schemas.microsoft.com/office/powerpoint/2010/main" val="470057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表&#10;&#10;描述已自动生成">
            <a:extLst>
              <a:ext uri="{FF2B5EF4-FFF2-40B4-BE49-F238E27FC236}">
                <a16:creationId xmlns:a16="http://schemas.microsoft.com/office/drawing/2014/main" id="{1F2D35DE-DFEC-1D6A-C64A-13673B704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7767" y="1809670"/>
            <a:ext cx="8282705" cy="4225016"/>
          </a:xfrm>
          <a:prstGeom prst="rect">
            <a:avLst/>
          </a:prstGeom>
        </p:spPr>
      </p:pic>
      <p:pic>
        <p:nvPicPr>
          <p:cNvPr id="7" name="图片 6" descr="图表, 箱线图&#10;&#10;描述已自动生成">
            <a:extLst>
              <a:ext uri="{FF2B5EF4-FFF2-40B4-BE49-F238E27FC236}">
                <a16:creationId xmlns:a16="http://schemas.microsoft.com/office/drawing/2014/main" id="{B8CDF104-C362-6F65-DB2A-BF15298082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1102" y="1781663"/>
            <a:ext cx="8369370" cy="4281029"/>
          </a:xfrm>
          <a:prstGeom prst="rect">
            <a:avLst/>
          </a:prstGeom>
        </p:spPr>
      </p:pic>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8</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10" name="文本框 9">
            <a:extLst>
              <a:ext uri="{FF2B5EF4-FFF2-40B4-BE49-F238E27FC236}">
                <a16:creationId xmlns:a16="http://schemas.microsoft.com/office/drawing/2014/main" id="{4F2B2AA0-BDD2-304F-10B7-8A0268A78871}"/>
              </a:ext>
            </a:extLst>
          </p:cNvPr>
          <p:cNvSpPr txBox="1"/>
          <p:nvPr/>
        </p:nvSpPr>
        <p:spPr>
          <a:xfrm>
            <a:off x="0" y="246801"/>
            <a:ext cx="5879432" cy="523220"/>
          </a:xfrm>
          <a:prstGeom prst="rect">
            <a:avLst/>
          </a:prstGeom>
          <a:noFill/>
        </p:spPr>
        <p:txBody>
          <a:bodyPr wrap="square" rtlCol="0">
            <a:spAutoFit/>
          </a:bodyPr>
          <a:lstStyle/>
          <a:p>
            <a:r>
              <a:rPr lang="en-US" altLang="zh-CN" sz="2800" b="1" dirty="0"/>
              <a:t>Results</a:t>
            </a:r>
          </a:p>
        </p:txBody>
      </p:sp>
      <p:sp>
        <p:nvSpPr>
          <p:cNvPr id="12" name="文本框 11">
            <a:extLst>
              <a:ext uri="{FF2B5EF4-FFF2-40B4-BE49-F238E27FC236}">
                <a16:creationId xmlns:a16="http://schemas.microsoft.com/office/drawing/2014/main" id="{DCF38B19-0E78-CE59-8BC9-A5571569FF2F}"/>
              </a:ext>
            </a:extLst>
          </p:cNvPr>
          <p:cNvSpPr txBox="1"/>
          <p:nvPr/>
        </p:nvSpPr>
        <p:spPr>
          <a:xfrm>
            <a:off x="468159" y="1148642"/>
            <a:ext cx="10492113" cy="400110"/>
          </a:xfrm>
          <a:prstGeom prst="rect">
            <a:avLst/>
          </a:prstGeom>
          <a:noFill/>
        </p:spPr>
        <p:txBody>
          <a:bodyPr wrap="square">
            <a:spAutoFit/>
          </a:bodyPr>
          <a:lstStyle/>
          <a:p>
            <a:r>
              <a:rPr lang="en-US" altLang="zh-CN" sz="2000" dirty="0"/>
              <a:t>The emulators were trained using the training set and compared the MSE of them in the test set.</a:t>
            </a:r>
            <a:endParaRPr lang="zh-CN" altLang="en-US" sz="2000" dirty="0"/>
          </a:p>
        </p:txBody>
      </p:sp>
      <p:sp>
        <p:nvSpPr>
          <p:cNvPr id="4" name="文本框 3">
            <a:extLst>
              <a:ext uri="{FF2B5EF4-FFF2-40B4-BE49-F238E27FC236}">
                <a16:creationId xmlns:a16="http://schemas.microsoft.com/office/drawing/2014/main" id="{DE0E0152-A70E-DD86-8E86-CF87B1C16766}"/>
              </a:ext>
            </a:extLst>
          </p:cNvPr>
          <p:cNvSpPr txBox="1"/>
          <p:nvPr/>
        </p:nvSpPr>
        <p:spPr>
          <a:xfrm>
            <a:off x="979908" y="3620322"/>
            <a:ext cx="607859" cy="307777"/>
          </a:xfrm>
          <a:prstGeom prst="rect">
            <a:avLst/>
          </a:prstGeom>
          <a:noFill/>
        </p:spPr>
        <p:txBody>
          <a:bodyPr vert="horz" wrap="square" rtlCol="0">
            <a:spAutoFit/>
          </a:bodyPr>
          <a:lstStyle/>
          <a:p>
            <a:r>
              <a:rPr lang="en-US" altLang="zh-CN" sz="1400" b="1" dirty="0"/>
              <a:t>MSE</a:t>
            </a:r>
            <a:endParaRPr lang="zh-CN" altLang="en-US" sz="1400" b="1" dirty="0"/>
          </a:p>
        </p:txBody>
      </p:sp>
      <p:sp>
        <p:nvSpPr>
          <p:cNvPr id="6" name="文本框 5">
            <a:extLst>
              <a:ext uri="{FF2B5EF4-FFF2-40B4-BE49-F238E27FC236}">
                <a16:creationId xmlns:a16="http://schemas.microsoft.com/office/drawing/2014/main" id="{30035BF3-6DB3-9E1B-CF00-A34E34D7CD28}"/>
              </a:ext>
            </a:extLst>
          </p:cNvPr>
          <p:cNvSpPr txBox="1"/>
          <p:nvPr/>
        </p:nvSpPr>
        <p:spPr>
          <a:xfrm>
            <a:off x="3284182" y="6062692"/>
            <a:ext cx="1494498" cy="369332"/>
          </a:xfrm>
          <a:prstGeom prst="rect">
            <a:avLst/>
          </a:prstGeom>
          <a:noFill/>
        </p:spPr>
        <p:txBody>
          <a:bodyPr wrap="square">
            <a:spAutoFit/>
          </a:bodyPr>
          <a:lstStyle/>
          <a:p>
            <a:pPr algn="ctr"/>
            <a:r>
              <a:rPr lang="en-GB" altLang="zh-CN" b="1" dirty="0"/>
              <a:t>Local Models</a:t>
            </a:r>
            <a:endParaRPr lang="zh-CN" altLang="en-US" b="1" dirty="0"/>
          </a:p>
        </p:txBody>
      </p:sp>
      <p:sp>
        <p:nvSpPr>
          <p:cNvPr id="8" name="文本框 7">
            <a:extLst>
              <a:ext uri="{FF2B5EF4-FFF2-40B4-BE49-F238E27FC236}">
                <a16:creationId xmlns:a16="http://schemas.microsoft.com/office/drawing/2014/main" id="{5879D89A-F2DB-C727-C1D1-DDC2A9830816}"/>
              </a:ext>
            </a:extLst>
          </p:cNvPr>
          <p:cNvSpPr txBox="1"/>
          <p:nvPr/>
        </p:nvSpPr>
        <p:spPr>
          <a:xfrm>
            <a:off x="6998414" y="6034686"/>
            <a:ext cx="2005730" cy="369332"/>
          </a:xfrm>
          <a:prstGeom prst="rect">
            <a:avLst/>
          </a:prstGeom>
          <a:noFill/>
        </p:spPr>
        <p:txBody>
          <a:bodyPr wrap="square">
            <a:spAutoFit/>
          </a:bodyPr>
          <a:lstStyle/>
          <a:p>
            <a:pPr algn="ctr"/>
            <a:r>
              <a:rPr lang="en-GB" altLang="zh-CN" b="1" dirty="0"/>
              <a:t>Global Models</a:t>
            </a:r>
            <a:endParaRPr lang="zh-CN" altLang="en-US" b="1" dirty="0"/>
          </a:p>
        </p:txBody>
      </p:sp>
      <p:sp>
        <p:nvSpPr>
          <p:cNvPr id="11" name="文本框 10">
            <a:extLst>
              <a:ext uri="{FF2B5EF4-FFF2-40B4-BE49-F238E27FC236}">
                <a16:creationId xmlns:a16="http://schemas.microsoft.com/office/drawing/2014/main" id="{58CB05A3-ACC3-095D-188C-987B4D9D35EB}"/>
              </a:ext>
            </a:extLst>
          </p:cNvPr>
          <p:cNvSpPr txBox="1"/>
          <p:nvPr/>
        </p:nvSpPr>
        <p:spPr>
          <a:xfrm>
            <a:off x="1150364" y="277578"/>
            <a:ext cx="2881067" cy="461665"/>
          </a:xfrm>
          <a:prstGeom prst="rect">
            <a:avLst/>
          </a:prstGeom>
          <a:noFill/>
        </p:spPr>
        <p:txBody>
          <a:bodyPr wrap="square">
            <a:spAutoFit/>
          </a:bodyPr>
          <a:lstStyle/>
          <a:p>
            <a:r>
              <a:rPr lang="en-GB" altLang="zh-CN" sz="2400" b="1" dirty="0"/>
              <a:t>(Zoom boundary)</a:t>
            </a:r>
            <a:endParaRPr lang="zh-CN" altLang="en-US" sz="2400" b="1" dirty="0"/>
          </a:p>
        </p:txBody>
      </p:sp>
    </p:spTree>
    <p:extLst>
      <p:ext uri="{BB962C8B-B14F-4D97-AF65-F5344CB8AC3E}">
        <p14:creationId xmlns:p14="http://schemas.microsoft.com/office/powerpoint/2010/main" val="353435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C2592D-0A46-5A22-3175-CC0D362DF9C7}"/>
              </a:ext>
            </a:extLst>
          </p:cNvPr>
          <p:cNvSpPr>
            <a:spLocks noGrp="1"/>
          </p:cNvSpPr>
          <p:nvPr>
            <p:ph type="sldNum" sz="quarter" idx="10"/>
          </p:nvPr>
        </p:nvSpPr>
        <p:spPr/>
        <p:txBody>
          <a:bodyPr/>
          <a:lstStyle/>
          <a:p>
            <a:fld id="{6CA44364-E889-4DF5-893C-D707612AF752}" type="slidenum">
              <a:rPr lang="zh-CN" altLang="en-US" smtClean="0"/>
              <a:pPr/>
              <a:t>9</a:t>
            </a:fld>
            <a:r>
              <a:rPr lang="en-US" altLang="zh-CN" dirty="0"/>
              <a:t>/10</a:t>
            </a:r>
            <a:endParaRPr lang="zh-CN" altLang="en-US" dirty="0"/>
          </a:p>
        </p:txBody>
      </p:sp>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sp>
        <p:nvSpPr>
          <p:cNvPr id="4" name="文本框 3">
            <a:extLst>
              <a:ext uri="{FF2B5EF4-FFF2-40B4-BE49-F238E27FC236}">
                <a16:creationId xmlns:a16="http://schemas.microsoft.com/office/drawing/2014/main" id="{F29860B4-94F2-F710-9F4A-B1D1BE61C296}"/>
              </a:ext>
            </a:extLst>
          </p:cNvPr>
          <p:cNvSpPr txBox="1"/>
          <p:nvPr/>
        </p:nvSpPr>
        <p:spPr>
          <a:xfrm>
            <a:off x="0" y="246801"/>
            <a:ext cx="4130843" cy="523220"/>
          </a:xfrm>
          <a:prstGeom prst="rect">
            <a:avLst/>
          </a:prstGeom>
          <a:noFill/>
        </p:spPr>
        <p:txBody>
          <a:bodyPr wrap="square" rtlCol="0">
            <a:spAutoFit/>
          </a:bodyPr>
          <a:lstStyle/>
          <a:p>
            <a:r>
              <a:rPr lang="en-US" altLang="zh-CN" sz="2800" b="1" dirty="0"/>
              <a:t>Future work</a:t>
            </a:r>
            <a:endParaRPr lang="zh-CN" altLang="en-US" sz="2800" b="1" dirty="0"/>
          </a:p>
        </p:txBody>
      </p:sp>
      <p:sp>
        <p:nvSpPr>
          <p:cNvPr id="6" name="文本框 5">
            <a:extLst>
              <a:ext uri="{FF2B5EF4-FFF2-40B4-BE49-F238E27FC236}">
                <a16:creationId xmlns:a16="http://schemas.microsoft.com/office/drawing/2014/main" id="{FABE1771-4A72-1C05-D393-6EB9C4ABED93}"/>
              </a:ext>
            </a:extLst>
          </p:cNvPr>
          <p:cNvSpPr txBox="1"/>
          <p:nvPr/>
        </p:nvSpPr>
        <p:spPr>
          <a:xfrm>
            <a:off x="280268" y="1003127"/>
            <a:ext cx="11287517" cy="4708981"/>
          </a:xfrm>
          <a:prstGeom prst="rect">
            <a:avLst/>
          </a:prstGeom>
          <a:noFill/>
        </p:spPr>
        <p:txBody>
          <a:bodyPr wrap="square">
            <a:spAutoFit/>
          </a:bodyPr>
          <a:lstStyle/>
          <a:p>
            <a:pPr marL="342900" indent="-342900">
              <a:lnSpc>
                <a:spcPct val="150000"/>
              </a:lnSpc>
              <a:spcAft>
                <a:spcPts val="1200"/>
              </a:spcAft>
              <a:buFont typeface="Wingdings" panose="05000000000000000000" pitchFamily="2" charset="2"/>
              <a:buChar char="Ø"/>
            </a:pPr>
            <a:r>
              <a:rPr lang="en-US" altLang="zh-CN" sz="2000" b="1" dirty="0"/>
              <a:t>Toy Problem Exploration: </a:t>
            </a:r>
          </a:p>
          <a:p>
            <a:pPr lvl="1"/>
            <a:r>
              <a:rPr lang="en-US" altLang="zh-CN" sz="2000" dirty="0"/>
              <a:t>Priority was given to completing the toy problem mentioned in the current study. The problem is intended to guide the experimental design process leading to more detailed and efficient simulation data and simulators.</a:t>
            </a:r>
          </a:p>
          <a:p>
            <a:pPr lvl="1"/>
            <a:endParaRPr lang="en-US" altLang="zh-CN" sz="2000" dirty="0"/>
          </a:p>
          <a:p>
            <a:pPr marL="342900" indent="-342900">
              <a:lnSpc>
                <a:spcPct val="150000"/>
              </a:lnSpc>
              <a:spcAft>
                <a:spcPts val="1200"/>
              </a:spcAft>
              <a:buFont typeface="Wingdings" panose="05000000000000000000" pitchFamily="2" charset="2"/>
              <a:buChar char="Ø"/>
            </a:pPr>
            <a:r>
              <a:rPr lang="en-US" altLang="zh-CN" sz="2000" b="1" dirty="0"/>
              <a:t>Refinement of Emulation Techniques: </a:t>
            </a:r>
          </a:p>
          <a:p>
            <a:pPr lvl="1"/>
            <a:r>
              <a:rPr lang="en-US" altLang="zh-CN" sz="2000" dirty="0"/>
              <a:t>Building on the foundations established in the first year, ongoing work will continue to refine GP emulation methods and apply them to the task of high-dimensional parameter estimation for LV model.</a:t>
            </a:r>
          </a:p>
          <a:p>
            <a:endParaRPr lang="en-US" altLang="zh-CN" sz="2000" dirty="0"/>
          </a:p>
          <a:p>
            <a:pPr marL="342900" indent="-342900">
              <a:lnSpc>
                <a:spcPct val="150000"/>
              </a:lnSpc>
              <a:spcAft>
                <a:spcPts val="1200"/>
              </a:spcAft>
              <a:buFont typeface="Wingdings" panose="05000000000000000000" pitchFamily="2" charset="2"/>
              <a:buChar char="Ø"/>
            </a:pPr>
            <a:r>
              <a:rPr lang="en-US" altLang="zh-CN" sz="2000" b="1" dirty="0"/>
              <a:t>Publications: </a:t>
            </a:r>
          </a:p>
          <a:p>
            <a:pPr lvl="1"/>
            <a:r>
              <a:rPr lang="en-US" altLang="zh-CN" sz="2000" dirty="0"/>
              <a:t>Publish results in an appropriate conference or journal, integrating all work done to date.</a:t>
            </a:r>
          </a:p>
          <a:p>
            <a:pPr marL="342900" indent="-342900">
              <a:buFont typeface="Wingdings" panose="05000000000000000000" pitchFamily="2" charset="2"/>
              <a:buChar char="Ø"/>
            </a:pPr>
            <a:endParaRPr lang="en-US" altLang="zh-CN" sz="2000" dirty="0"/>
          </a:p>
        </p:txBody>
      </p:sp>
    </p:spTree>
    <p:extLst>
      <p:ext uri="{BB962C8B-B14F-4D97-AF65-F5344CB8AC3E}">
        <p14:creationId xmlns:p14="http://schemas.microsoft.com/office/powerpoint/2010/main" val="3222351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2">
            <a:extLst>
              <a:ext uri="{FF2B5EF4-FFF2-40B4-BE49-F238E27FC236}">
                <a16:creationId xmlns:a16="http://schemas.microsoft.com/office/drawing/2014/main" id="{066D4AFF-7EF9-86F1-37A9-C97A08EF0D0E}"/>
              </a:ext>
            </a:extLst>
          </p:cNvPr>
          <p:cNvSpPr/>
          <p:nvPr/>
        </p:nvSpPr>
        <p:spPr>
          <a:xfrm>
            <a:off x="0" y="251719"/>
            <a:ext cx="12192000" cy="518302"/>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CCCCFF"/>
          </a:solidFill>
        </p:spPr>
        <p:txBody>
          <a:bodyPr wrap="square" lIns="0" tIns="0" rIns="0" bIns="0" rtlCol="0"/>
          <a:lstStyle/>
          <a:p>
            <a:endParaRPr/>
          </a:p>
        </p:txBody>
      </p:sp>
      <p:pic>
        <p:nvPicPr>
          <p:cNvPr id="5" name="图片 4">
            <a:extLst>
              <a:ext uri="{FF2B5EF4-FFF2-40B4-BE49-F238E27FC236}">
                <a16:creationId xmlns:a16="http://schemas.microsoft.com/office/drawing/2014/main" id="{F705EE93-8AEC-5F47-8DA8-B906387D86D0}"/>
              </a:ext>
            </a:extLst>
          </p:cNvPr>
          <p:cNvPicPr>
            <a:picLocks noChangeAspect="1"/>
          </p:cNvPicPr>
          <p:nvPr/>
        </p:nvPicPr>
        <p:blipFill>
          <a:blip r:embed="rId2"/>
          <a:stretch>
            <a:fillRect/>
          </a:stretch>
        </p:blipFill>
        <p:spPr>
          <a:xfrm>
            <a:off x="5374500" y="4039114"/>
            <a:ext cx="1442999" cy="2212600"/>
          </a:xfrm>
          <a:prstGeom prst="rect">
            <a:avLst/>
          </a:prstGeom>
        </p:spPr>
      </p:pic>
      <p:sp>
        <p:nvSpPr>
          <p:cNvPr id="2" name="文本框 1">
            <a:extLst>
              <a:ext uri="{FF2B5EF4-FFF2-40B4-BE49-F238E27FC236}">
                <a16:creationId xmlns:a16="http://schemas.microsoft.com/office/drawing/2014/main" id="{DA98C02E-894A-D7B1-BA38-93C6264C5FEE}"/>
              </a:ext>
            </a:extLst>
          </p:cNvPr>
          <p:cNvSpPr txBox="1"/>
          <p:nvPr/>
        </p:nvSpPr>
        <p:spPr>
          <a:xfrm>
            <a:off x="3427343" y="2342533"/>
            <a:ext cx="5337312" cy="584775"/>
          </a:xfrm>
          <a:prstGeom prst="rect">
            <a:avLst/>
          </a:prstGeom>
          <a:noFill/>
        </p:spPr>
        <p:txBody>
          <a:bodyPr wrap="square" rtlCol="0">
            <a:spAutoFit/>
          </a:bodyPr>
          <a:lstStyle/>
          <a:p>
            <a:pPr algn="ctr"/>
            <a:r>
              <a:rPr lang="en-US" altLang="zh-CN" sz="3200" b="1" dirty="0"/>
              <a:t>Thanks for listening!</a:t>
            </a:r>
            <a:endParaRPr lang="zh-CN" altLang="en-US" sz="3200" b="1" dirty="0"/>
          </a:p>
        </p:txBody>
      </p:sp>
      <p:sp>
        <p:nvSpPr>
          <p:cNvPr id="4" name="灯片编号占位符 1">
            <a:extLst>
              <a:ext uri="{FF2B5EF4-FFF2-40B4-BE49-F238E27FC236}">
                <a16:creationId xmlns:a16="http://schemas.microsoft.com/office/drawing/2014/main" id="{D627A99A-4B5B-8E72-339E-CC629512B819}"/>
              </a:ext>
            </a:extLst>
          </p:cNvPr>
          <p:cNvSpPr>
            <a:spLocks noGrp="1"/>
          </p:cNvSpPr>
          <p:nvPr>
            <p:ph type="sldNum" sz="quarter" idx="10"/>
          </p:nvPr>
        </p:nvSpPr>
        <p:spPr>
          <a:xfrm>
            <a:off x="9004144" y="6560769"/>
            <a:ext cx="3036632" cy="365125"/>
          </a:xfrm>
        </p:spPr>
        <p:txBody>
          <a:bodyPr/>
          <a:lstStyle/>
          <a:p>
            <a:fld id="{6CA44364-E889-4DF5-893C-D707612AF752}" type="slidenum">
              <a:rPr lang="zh-CN" altLang="en-US" smtClean="0"/>
              <a:pPr/>
              <a:t>10</a:t>
            </a:fld>
            <a:r>
              <a:rPr lang="en-US" altLang="zh-CN" dirty="0"/>
              <a:t>/10</a:t>
            </a:r>
            <a:endParaRPr lang="zh-CN" altLang="en-US" dirty="0"/>
          </a:p>
        </p:txBody>
      </p:sp>
    </p:spTree>
    <p:extLst>
      <p:ext uri="{BB962C8B-B14F-4D97-AF65-F5344CB8AC3E}">
        <p14:creationId xmlns:p14="http://schemas.microsoft.com/office/powerpoint/2010/main" val="37362746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4499</TotalTime>
  <Words>597</Words>
  <Application>Microsoft Office PowerPoint</Application>
  <PresentationFormat>Widescreen</PresentationFormat>
  <Paragraphs>84</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任 泓瑾</dc:creator>
  <cp:lastModifiedBy>Hongjin Ren (PGR)</cp:lastModifiedBy>
  <cp:revision>78</cp:revision>
  <dcterms:created xsi:type="dcterms:W3CDTF">2022-07-13T14:04:39Z</dcterms:created>
  <dcterms:modified xsi:type="dcterms:W3CDTF">2026-02-04T14:04:16Z</dcterms:modified>
</cp:coreProperties>
</file>